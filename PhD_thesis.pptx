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5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75" r:id="rId2"/>
    <p:sldId id="343" r:id="rId3"/>
    <p:sldId id="460" r:id="rId4"/>
    <p:sldId id="540" r:id="rId5"/>
    <p:sldId id="541" r:id="rId6"/>
    <p:sldId id="501" r:id="rId7"/>
    <p:sldId id="543" r:id="rId8"/>
    <p:sldId id="502" r:id="rId9"/>
    <p:sldId id="544" r:id="rId10"/>
    <p:sldId id="503" r:id="rId11"/>
    <p:sldId id="561" r:id="rId12"/>
    <p:sldId id="545" r:id="rId13"/>
    <p:sldId id="463" r:id="rId14"/>
    <p:sldId id="546" r:id="rId15"/>
    <p:sldId id="547" r:id="rId16"/>
    <p:sldId id="505" r:id="rId17"/>
    <p:sldId id="562" r:id="rId18"/>
    <p:sldId id="548" r:id="rId19"/>
    <p:sldId id="549" r:id="rId20"/>
    <p:sldId id="550" r:id="rId21"/>
    <p:sldId id="551" r:id="rId22"/>
    <p:sldId id="563" r:id="rId23"/>
    <p:sldId id="552" r:id="rId24"/>
    <p:sldId id="553" r:id="rId25"/>
    <p:sldId id="554" r:id="rId26"/>
    <p:sldId id="555" r:id="rId27"/>
    <p:sldId id="564" r:id="rId28"/>
    <p:sldId id="565" r:id="rId29"/>
    <p:sldId id="557" r:id="rId30"/>
    <p:sldId id="558" r:id="rId31"/>
    <p:sldId id="559" r:id="rId32"/>
    <p:sldId id="560" r:id="rId33"/>
    <p:sldId id="556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737"/>
    <a:srgbClr val="000000"/>
    <a:srgbClr val="1D2624"/>
    <a:srgbClr val="3DB8E3"/>
    <a:srgbClr val="E33DE3"/>
    <a:srgbClr val="9954CC"/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2" autoAdjust="0"/>
    <p:restoredTop sz="89744" autoAdjust="0"/>
  </p:normalViewPr>
  <p:slideViewPr>
    <p:cSldViewPr snapToGrid="0">
      <p:cViewPr>
        <p:scale>
          <a:sx n="99" d="100"/>
          <a:sy n="99" d="100"/>
        </p:scale>
        <p:origin x="936" y="7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8786A-E7EB-402D-B621-CFC8455EA5DC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E297F-5C86-4CB7-B0E5-5F3DDDA82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28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21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462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979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8EAF-C3BA-9335-B79C-F1BDD099A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2B9944-0E69-6DAA-CCD4-A88662FA8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8A3179-E058-7F45-36BA-184A46D5E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8D84C4-AC01-333A-DC09-9422F3AC4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921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E943-04B0-3F8D-67A7-96536BC4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5AAC71-11DB-1846-A05F-1CD12D33F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793075-422D-E06A-6499-8E860DB8D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8F3DB8-447A-DAAD-1A3B-66325392D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907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17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2883-201C-9DD9-A22F-731F9E0F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538798-C447-D007-496F-A3594C5E3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87E4A1-66F2-1B42-231C-09F97E374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5D19C0-F187-8A80-7F63-A531F68EE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597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65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F312-5E01-46D9-AA30-B7C0D2F8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7B76AE-CB3F-7FF3-EAEC-2174F7575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905E50-13A1-9339-F58F-740EEAF3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E76EC-0F65-5700-7C9C-188EE894E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398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227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721AF-C1C0-2E3A-7147-1570E607F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F35AFA-2CC4-8781-C1EB-2E152238C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B4954E-F1A7-8565-E58D-52BA1949A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051C8-B840-8288-FC95-CD796FC77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86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0100-E25C-B911-88D7-1DDFC43D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336B54-1D2E-9255-10E5-06754FE96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31A21A-7FA8-767B-9CAE-888964CC0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F0707-C8EA-A823-7F54-0EBF00378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015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496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6BBB-AFD7-EC99-F102-9BA33A71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EA8A5A-D889-2AE7-853B-7A0537719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FEE68E-35CE-7EA2-B774-5012623D1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7FE566-8E5E-0641-4E75-AD3FAAB55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714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749B-AFF6-605E-7A66-B52E62DE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52E738-D38A-0615-A34B-0C271A4C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ED717F-C8DD-1523-9C2F-2A06C4C06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B911EB-56E7-C1C3-FB00-A5CA55E3F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174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i="0" dirty="0">
              <a:effectLst/>
              <a:latin typeface="Helvetica" pitchFamily="2" charset="0"/>
            </a:endParaRPr>
          </a:p>
          <a:p>
            <a:endParaRPr lang="en" altLang="zh-CN" i="0" dirty="0">
              <a:effectLst/>
              <a:latin typeface="Helvetica" pitchFamily="2" charset="0"/>
            </a:endParaRPr>
          </a:p>
          <a:p>
            <a:endParaRPr lang="en" altLang="zh-CN" i="0" dirty="0">
              <a:effectLst/>
              <a:latin typeface="Helvetica" pitchFamily="2" charset="0"/>
            </a:endParaRPr>
          </a:p>
          <a:p>
            <a:endParaRPr lang="en" altLang="zh-CN" i="0" dirty="0">
              <a:effectLst/>
              <a:latin typeface="Helvetica" pitchFamily="2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624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2245-9747-9716-6BFD-F169E4C3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910D2F-C47F-AAB0-AC02-8AEA59438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C192C2-727A-3C99-6B2E-F238EA014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3C1E90-7C36-597B-F6CD-15589A2DE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408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1ED8D-F429-F770-4EDC-8AFAF1FA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20D594-FD02-F89D-63D1-C01A790BA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3DA1A3-3348-38B6-F46B-94B5BECA7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C77DE7-EFAC-FE7B-0467-2A7E47928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008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8EE0-70C5-B893-ABCF-95C801D7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CA8435-EDF9-A59B-2B3C-4AB73253C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F664EB-2F81-7123-8C8A-1C834C1E3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1EFF9B-D581-F500-523F-F313E9544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9580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9F89-A5DD-FC37-7AFE-1872095C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019DB1-8798-7C30-5DB0-D1C2F72F4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D723DB-1093-D9D7-CAFD-F239DD625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3AB252-907E-BF5E-0C0D-7F30BB5FB5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311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609F3-7EC4-A9BC-7C28-6A17BEF2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DDB849-0BE3-EA1F-0004-BB14F8B4D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6F1C45-9BE8-1D15-E3A5-8F5223765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FC9375-1A1B-08D9-384C-CF05356C9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37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C81C-7267-3673-6293-61A16286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C59FE1-91E5-032D-D7AB-86E108449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D5DCDC-0F5C-7D12-49DE-DAE1D17BB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D7BA6-928B-5F9C-1F6C-43E88C457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318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8DCF-2B2C-577E-1BEB-D794C9C1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91FC06-9C13-EF11-CFD8-291325D35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47F0A8-3DBA-7B7D-D657-39C5AE31E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313FB5-6B6A-E075-D646-AAC6CB82B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059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58136-02F7-819E-8727-F314B0FD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7ADDCE-292E-6D2D-DECF-0F6773DDD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225F37-1D42-D34B-435C-7BB1C2475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467CCC-3063-2CCE-C34C-A94917565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8457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182F-B24F-D90C-6679-D13F0065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535253-7738-7927-9988-0B3F0B875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11DDA8-EE13-DDED-2BDC-5A62646F0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AD7D06-3E38-0648-4F44-6F85565D9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4770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AC96-4859-3593-8DBA-A9EE0C84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BCE690-74E3-8E68-49B1-BCED72662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283191-96BE-E11B-1792-949BE0302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63839-65E9-2976-FD5F-59558CF35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190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A6EFE-5670-5122-FCCC-C64AFFD2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C8EA9C-1CFA-7CEA-0C06-EE131A51A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AF3D93-385A-4F37-B281-35FE8A200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FE11A-23A2-2EC9-C566-B3805A2A0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81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E0FD0-2175-A094-89A7-6E06C732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853EDB-2646-A79F-4DBC-67569C8FD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A6715F-5ABF-D173-FB66-E9E504144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7E8AD8-7B07-414C-F0B9-42329A16ED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9669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C005-F411-846B-7BB7-713CC6F0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383E65-96DB-36DC-EA97-C370D762F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C806FD-43BC-F633-25AA-FEC489869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8637FE-9F24-B6EA-A4F0-3D1970148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62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AFF06-7866-43D1-A5D0-3EB1F626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A3426-B1B9-AF50-3EC3-88850A779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B2497F-B876-F4E7-0D76-833282F37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1ABF2-1EB4-9CB1-A319-4EE4B73DA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0762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05218-81EA-71FC-FC89-CB64C7EA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B6EE9D-4EF5-8FBB-2519-9496BB6C2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9120AD-FC46-8E4B-BF79-17500D190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727923-D6C2-5844-96AF-A047E995F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50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3C7C-1AA3-9286-1605-9F7796AD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7C21A2-0D2E-4D00-14C1-032110B90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39D580-3635-F564-1F5D-A754BD1B2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17123E-A3BD-DCAC-2529-EEF89FBB2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387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41BC-5B00-EBBF-4BAB-1618003A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B34720-1438-EE51-B57C-04E2C4007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B7200C-0C9D-D86E-31B8-30AA8D7F4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Evolutionary computation is a promising method for solving regression problems.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FC0107-1140-30CC-429D-C1B35BF7F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E297F-5C86-4CB7-B0E5-5F3DDDA828F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20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1122363"/>
          </a:xfrm>
          <a:prstGeom prst="rect">
            <a:avLst/>
          </a:prstGeom>
          <a:gradFill flip="none" rotWithShape="1">
            <a:gsLst>
              <a:gs pos="52000">
                <a:srgbClr val="1D2624"/>
              </a:gs>
              <a:gs pos="100000">
                <a:srgbClr val="0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A46D-21B9-4E0D-AEA2-25785A2C4FAF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rgbClr val="115737"/>
                </a:solidFill>
              </a:defRPr>
            </a:lvl1pPr>
          </a:lstStyle>
          <a:p>
            <a:fld id="{EF62E218-C089-4D47-ACA9-580EF44F5FE0}" type="slidenum">
              <a:rPr lang="zh-CN" altLang="en-US" smtClean="0"/>
              <a:pPr/>
              <a:t>‹#›</a:t>
            </a:fld>
            <a:r>
              <a:rPr lang="en-US" altLang="zh-CN" dirty="0"/>
              <a:t>/21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168"/>
            <a:ext cx="3818313" cy="104611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920" y="44337"/>
            <a:ext cx="2395828" cy="10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931025"/>
          </a:xfrm>
          <a:prstGeom prst="rect">
            <a:avLst/>
          </a:prstGeom>
          <a:solidFill>
            <a:srgbClr val="115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174" y="152046"/>
            <a:ext cx="9746672" cy="656785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891" y="1043162"/>
            <a:ext cx="11083636" cy="479684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F0E6-FD80-4404-910C-3CB108A04014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rgbClr val="115737"/>
                </a:solidFill>
              </a:defRPr>
            </a:lvl1pPr>
          </a:lstStyle>
          <a:p>
            <a:fld id="{EF62E218-C089-4D47-ACA9-580EF44F5FE0}" type="slidenum">
              <a:rPr lang="zh-CN" altLang="en-US" smtClean="0"/>
              <a:pPr/>
              <a:t>‹#›</a:t>
            </a:fld>
            <a:r>
              <a:rPr lang="en-US" altLang="zh-CN" dirty="0"/>
              <a:t>/21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111" y="0"/>
            <a:ext cx="2157889" cy="92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57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21D06-0E7D-4167-B580-8713C2A6AF5A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16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49B4-1A24-4115-915E-422611DBCA62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46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D0F0-E927-4217-8AD7-9B0185BCADA0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74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482B-68F5-4682-8186-406B0300CF63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5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437EB-2722-463E-90A1-C3A7C08314FF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79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76614-7317-4F6E-AB35-36046F908052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11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9AC59-E1B1-40C2-BCB6-751A031DAF4F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51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4D41-69C6-4EDC-8B9D-A5F9F020AF6F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20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5A88-5172-4A2D-86E1-9F1510673952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3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514DC-0888-4D42-970F-6C8CBACE73D3}" type="datetime1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2E218-C089-4D47-ACA9-580EF44F5F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04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 flipH="1">
            <a:off x="1092347" y="2157450"/>
            <a:ext cx="9751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Genetic Programming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</a:p>
          <a:p>
            <a:pPr algn="ctr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Multi-output Symbolic Regression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 flipH="1">
            <a:off x="1485573" y="3676302"/>
            <a:ext cx="89654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PhD Thesis</a:t>
            </a:r>
          </a:p>
          <a:p>
            <a:pPr algn="ctr"/>
            <a:r>
              <a:rPr lang="en-US" altLang="zh-CN" sz="2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Victoria University of Wellington</a:t>
            </a:r>
          </a:p>
          <a:p>
            <a:pPr algn="ctr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Presenter: </a:t>
            </a:r>
            <a:r>
              <a:rPr lang="en-US" altLang="zh-CN" sz="2800" dirty="0" err="1">
                <a:latin typeface="Arial" panose="020B0604020202020204" pitchFamily="34" charset="0"/>
                <a:cs typeface="Arial" panose="020B0604020202020204" pitchFamily="34" charset="0"/>
              </a:rPr>
              <a:t>Chunyu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Wang</a:t>
            </a:r>
          </a:p>
          <a:p>
            <a:pPr algn="ctr"/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Supervisors: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Qi Chen, Bing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Xue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Mengjie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Zhang</a:t>
            </a:r>
          </a:p>
          <a:p>
            <a:pPr algn="ctr"/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7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90"/>
    </mc:Choice>
    <mc:Fallback xmlns="">
      <p:transition spd="slow" advTm="60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174" y="152046"/>
            <a:ext cx="4233026" cy="656785"/>
          </a:xfrm>
        </p:spPr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465" y="1243734"/>
            <a:ext cx="9190507" cy="47968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1: Semantic-aware Transfer 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2: RL-based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3: Feature Selection-based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4: Evolutionary Feature Construction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Conclusions and Future Work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38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2"/>
    </mc:Choice>
    <mc:Fallback xmlns="">
      <p:transition spd="slow" advTm="374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Introduction: Symbolic Regression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0" y="962480"/>
            <a:ext cx="7456868" cy="49330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b="1" dirty="0"/>
              <a:t>Definition:</a:t>
            </a:r>
          </a:p>
          <a:p>
            <a:pPr lvl="1" algn="just"/>
            <a:r>
              <a:rPr lang="en-US" altLang="zh-CN" dirty="0"/>
              <a:t>Predict continuous output Y from input X</a:t>
            </a:r>
          </a:p>
          <a:p>
            <a:pPr lvl="1" algn="just"/>
            <a:r>
              <a:rPr lang="en-US" altLang="zh-CN" dirty="0"/>
              <a:t>Simultaneously identify the model structure and the associated coefficients.</a:t>
            </a:r>
          </a:p>
          <a:p>
            <a:pPr lvl="1" algn="just"/>
            <a:r>
              <a:rPr lang="en-US" altLang="zh-CN" dirty="0"/>
              <a:t>Learn function f : X → Y</a:t>
            </a:r>
          </a:p>
          <a:p>
            <a:pPr lvl="1" algn="just"/>
            <a:r>
              <a:rPr lang="en-US" altLang="zh-CN" dirty="0"/>
              <a:t>Minimize prediction error</a:t>
            </a:r>
          </a:p>
          <a:p>
            <a:pPr marL="0" indent="0" algn="just">
              <a:buNone/>
            </a:pPr>
            <a:r>
              <a:rPr lang="en-US" altLang="zh-CN" b="1" dirty="0"/>
              <a:t>Evaluation Metrics:</a:t>
            </a:r>
          </a:p>
          <a:p>
            <a:pPr lvl="1" algn="just"/>
            <a:r>
              <a:rPr lang="en-US" altLang="zh-CN" dirty="0"/>
              <a:t>Normalized Root Mean Squared Error (NRMSE)</a:t>
            </a:r>
          </a:p>
          <a:p>
            <a:pPr lvl="1" algn="just"/>
            <a:r>
              <a:rPr lang="en-US" altLang="zh-CN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 Score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E30A65-2E9C-A8AB-047F-13B3AB46D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262" y="1267341"/>
            <a:ext cx="4635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6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260B-C83D-A585-2B5A-84C3C785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7E84A-CF05-3973-F193-EFF475AC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3" y="152046"/>
            <a:ext cx="9989169" cy="65678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Introduction: Multi-output Symbolic Regression (MSR)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49D3AE-6DB6-D127-7EB3-C4334CA1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7EE774D-DC5D-6E70-BC44-72E7F8447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8128"/>
            <a:ext cx="6385034" cy="49330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b="1" dirty="0"/>
              <a:t>Single-output symbolic regression </a:t>
            </a:r>
          </a:p>
          <a:p>
            <a:pPr lvl="1" algn="just"/>
            <a:r>
              <a:rPr lang="en-US" altLang="zh-CN" dirty="0"/>
              <a:t>Inputs: X1, X2, ..., </a:t>
            </a:r>
            <a:r>
              <a:rPr lang="en-US" altLang="zh-CN" dirty="0" err="1"/>
              <a:t>Xm</a:t>
            </a:r>
            <a:endParaRPr lang="en-US" altLang="zh-CN" dirty="0"/>
          </a:p>
          <a:p>
            <a:pPr lvl="1" algn="just"/>
            <a:r>
              <a:rPr lang="en-US" altLang="zh-CN" dirty="0"/>
              <a:t>Outputs: Only one dependent variable </a:t>
            </a:r>
            <a:r>
              <a:rPr lang="en-US" altLang="zh-CN" dirty="0">
                <a:solidFill>
                  <a:srgbClr val="C00000"/>
                </a:solidFill>
              </a:rPr>
              <a:t>Y</a:t>
            </a:r>
            <a:r>
              <a:rPr lang="en-US" altLang="zh-CN" dirty="0"/>
              <a:t>.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altLang="zh-CN" b="1" dirty="0">
                <a:solidFill>
                  <a:srgbClr val="C00000"/>
                </a:solidFill>
              </a:rPr>
              <a:t>Multi-output symbolic regression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endParaRPr lang="en-US" altLang="zh-CN" dirty="0"/>
          </a:p>
          <a:p>
            <a:pPr lvl="1" algn="just"/>
            <a:r>
              <a:rPr lang="en-US" altLang="zh-CN" dirty="0"/>
              <a:t>Inputs: X1, X2, ..., </a:t>
            </a:r>
            <a:r>
              <a:rPr lang="en-US" altLang="zh-CN" dirty="0" err="1"/>
              <a:t>Xm</a:t>
            </a:r>
            <a:endParaRPr lang="en-US" altLang="zh-CN" dirty="0"/>
          </a:p>
          <a:p>
            <a:pPr lvl="1" algn="just"/>
            <a:r>
              <a:rPr lang="en-US" altLang="zh-CN" dirty="0"/>
              <a:t>Outputs: </a:t>
            </a:r>
            <a:r>
              <a:rPr lang="en" altLang="zh-CN" dirty="0"/>
              <a:t>T</a:t>
            </a:r>
            <a:r>
              <a:rPr lang="en" altLang="zh-CN" b="0" i="0" dirty="0">
                <a:effectLst/>
                <a:latin typeface="Arial" panose="020B0604020202020204" pitchFamily="34" charset="0"/>
              </a:rPr>
              <a:t>he number of output</a:t>
            </a:r>
            <a:r>
              <a:rPr lang="zh-CN" alt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b="0" i="0" dirty="0">
                <a:effectLst/>
                <a:latin typeface="Arial" panose="020B0604020202020204" pitchFamily="34" charset="0"/>
              </a:rPr>
              <a:t>variables</a:t>
            </a:r>
            <a:r>
              <a:rPr lang="en" altLang="zh-CN" b="0" i="0" dirty="0">
                <a:effectLst/>
                <a:latin typeface="Arial" panose="020B0604020202020204" pitchFamily="34" charset="0"/>
              </a:rPr>
              <a:t> is more than one</a:t>
            </a:r>
            <a:r>
              <a:rPr lang="en-US" altLang="zh-CN" b="0" i="0" dirty="0">
                <a:effectLst/>
                <a:latin typeface="Arial" panose="020B0604020202020204" pitchFamily="34" charset="0"/>
              </a:rPr>
              <a:t> </a:t>
            </a:r>
            <a:r>
              <a:rPr lang="en" altLang="zh-CN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Y1, Y2, ..., Yd</a:t>
            </a:r>
            <a:r>
              <a:rPr lang="en" altLang="zh-CN" b="0" i="0" dirty="0">
                <a:effectLst/>
                <a:latin typeface="Arial" panose="020B0604020202020204" pitchFamily="34" charset="0"/>
              </a:rPr>
              <a:t>.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C6415C-31BD-0A23-F889-EF3783A90F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3"/>
          <a:stretch>
            <a:fillRect/>
          </a:stretch>
        </p:blipFill>
        <p:spPr>
          <a:xfrm>
            <a:off x="7811813" y="1108128"/>
            <a:ext cx="3192518" cy="26409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07D6E9-2313-91AA-137F-26958201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108" y="3892268"/>
            <a:ext cx="3620692" cy="246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4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58FA-7E8B-4F9D-F44C-E05AE76A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F4913-9C39-F246-CA2B-FDF66D73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Introduction: MSR Challenge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F62406-4A2D-3FB0-4294-A5F1C98F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7BB1650-E273-DCDD-CB23-72AD636D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6209"/>
            <a:ext cx="7359498" cy="618173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b="1" dirty="0"/>
              <a:t>Challenge:</a:t>
            </a:r>
          </a:p>
          <a:p>
            <a:pPr lvl="1" algn="just"/>
            <a:r>
              <a:rPr lang="en-US" altLang="zh-CN" dirty="0"/>
              <a:t>Heterogeneous Output Dependencies</a:t>
            </a:r>
          </a:p>
          <a:p>
            <a:pPr lvl="1" algn="just"/>
            <a:r>
              <a:rPr lang="en-US" altLang="zh-CN" dirty="0"/>
              <a:t>Information-Sharing Requirements</a:t>
            </a:r>
          </a:p>
          <a:p>
            <a:pPr lvl="1" algn="just"/>
            <a:r>
              <a:rPr lang="en-US" altLang="zh-CN" dirty="0"/>
              <a:t>Complex Feature Interactions</a:t>
            </a:r>
          </a:p>
          <a:p>
            <a:pPr lvl="1" algn="just"/>
            <a:r>
              <a:rPr lang="en-US" altLang="zh-CN" dirty="0"/>
              <a:t>Imbalanced Output Performance</a:t>
            </a:r>
          </a:p>
          <a:p>
            <a:pPr marL="0" indent="0" algn="just">
              <a:buNone/>
            </a:pPr>
            <a:r>
              <a:rPr lang="en-US" altLang="zh-CN" b="1" dirty="0"/>
              <a:t>Why GP?</a:t>
            </a:r>
            <a:r>
              <a:rPr lang="en-US" altLang="zh-CN" dirty="0"/>
              <a:t> </a:t>
            </a:r>
          </a:p>
          <a:p>
            <a:pPr lvl="1" algn="just"/>
            <a:r>
              <a:rPr lang="en-US" altLang="zh-CN" dirty="0"/>
              <a:t>Support for MSR: multi-task/multi-tree</a:t>
            </a:r>
          </a:p>
          <a:p>
            <a:pPr lvl="1" algn="just"/>
            <a:r>
              <a:rPr lang="en-US" altLang="zh-CN" dirty="0"/>
              <a:t>Effective learning in high-dimensional datasets</a:t>
            </a:r>
          </a:p>
          <a:p>
            <a:pPr lvl="1" algn="just"/>
            <a:r>
              <a:rPr lang="en-US" altLang="zh-CN" dirty="0"/>
              <a:t>Flexible, adaptive representation</a:t>
            </a:r>
          </a:p>
          <a:p>
            <a:pPr lvl="1" algn="just"/>
            <a:r>
              <a:rPr lang="en-US" altLang="zh-CN" dirty="0"/>
              <a:t>Interpretability</a:t>
            </a:r>
          </a:p>
          <a:p>
            <a:pPr lvl="1" algn="just"/>
            <a:endParaRPr lang="en-US" altLang="zh-CN" dirty="0"/>
          </a:p>
          <a:p>
            <a:pPr lvl="1" algn="just"/>
            <a:endParaRPr lang="en-US" altLang="zh-CN" dirty="0"/>
          </a:p>
        </p:txBody>
      </p:sp>
      <p:pic>
        <p:nvPicPr>
          <p:cNvPr id="3" name="图片 2" descr="图表, 条形图&#10;&#10;描述已自动生成">
            <a:extLst>
              <a:ext uri="{FF2B5EF4-FFF2-40B4-BE49-F238E27FC236}">
                <a16:creationId xmlns:a16="http://schemas.microsoft.com/office/drawing/2014/main" id="{B82058B1-83ED-E1CD-FBB3-409241EED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114" y="1933583"/>
            <a:ext cx="3298015" cy="32980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40B70CE-B39F-090F-0722-F87924203C53}"/>
              </a:ext>
            </a:extLst>
          </p:cNvPr>
          <p:cNvSpPr txBox="1"/>
          <p:nvPr/>
        </p:nvSpPr>
        <p:spPr>
          <a:xfrm>
            <a:off x="7959377" y="1441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{X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2C6208DB-84E2-57CF-7C7D-3BF6571A7A3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284146" y="1811068"/>
            <a:ext cx="216764" cy="213675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05B3365-FA03-D2E5-3219-C5E87ED55B57}"/>
              </a:ext>
            </a:extLst>
          </p:cNvPr>
          <p:cNvSpPr txBox="1"/>
          <p:nvPr/>
        </p:nvSpPr>
        <p:spPr>
          <a:xfrm>
            <a:off x="8460503" y="144173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{X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2901513-2E5F-5181-6CB9-CE8C39B4D015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8993662" y="1811068"/>
            <a:ext cx="0" cy="213675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25F32CC-37B3-FE33-A4CD-05719A95D57C}"/>
              </a:ext>
            </a:extLst>
          </p:cNvPr>
          <p:cNvSpPr txBox="1"/>
          <p:nvPr/>
        </p:nvSpPr>
        <p:spPr>
          <a:xfrm>
            <a:off x="9424450" y="1441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{X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26C232E-2E3B-91C6-64E7-720ABD24A04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9749219" y="1811068"/>
            <a:ext cx="0" cy="213675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D79A884F-A3A2-9126-0EC5-E2AAC7E9A182}"/>
              </a:ext>
            </a:extLst>
          </p:cNvPr>
          <p:cNvSpPr txBox="1"/>
          <p:nvPr/>
        </p:nvSpPr>
        <p:spPr>
          <a:xfrm>
            <a:off x="10398756" y="144173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{X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8EB7448C-C0BC-2D82-6955-C3B4496701D2}"/>
              </a:ext>
            </a:extLst>
          </p:cNvPr>
          <p:cNvCxnSpPr>
            <a:cxnSpLocks/>
          </p:cNvCxnSpPr>
          <p:nvPr/>
        </p:nvCxnSpPr>
        <p:spPr>
          <a:xfrm>
            <a:off x="10931915" y="1811068"/>
            <a:ext cx="0" cy="300761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B6671DF-8BBE-9A0C-CA27-BDD924B6083E}"/>
              </a:ext>
            </a:extLst>
          </p:cNvPr>
          <p:cNvSpPr txBox="1"/>
          <p:nvPr/>
        </p:nvSpPr>
        <p:spPr>
          <a:xfrm>
            <a:off x="8135734" y="5424642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05FF092-25EE-A8F7-1FDD-109C6BCC44EF}"/>
              </a:ext>
            </a:extLst>
          </p:cNvPr>
          <p:cNvSpPr txBox="1"/>
          <p:nvPr/>
        </p:nvSpPr>
        <p:spPr>
          <a:xfrm>
            <a:off x="8787203" y="5416264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C3C4CA-D28C-3D64-9815-B47E153A4E56}"/>
              </a:ext>
            </a:extLst>
          </p:cNvPr>
          <p:cNvSpPr txBox="1"/>
          <p:nvPr/>
        </p:nvSpPr>
        <p:spPr>
          <a:xfrm>
            <a:off x="9532335" y="541626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0788274-9325-996A-84FB-84BCA18722F6}"/>
              </a:ext>
            </a:extLst>
          </p:cNvPr>
          <p:cNvSpPr txBox="1"/>
          <p:nvPr/>
        </p:nvSpPr>
        <p:spPr>
          <a:xfrm>
            <a:off x="10720837" y="5416264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8E9CA13-A93D-DBF2-0ABE-009B208C4ECF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8372337" y="5192273"/>
            <a:ext cx="980" cy="232369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9739E972-2D82-6DB8-A91C-4485892F1EE7}"/>
              </a:ext>
            </a:extLst>
          </p:cNvPr>
          <p:cNvCxnSpPr>
            <a:cxnSpLocks/>
          </p:cNvCxnSpPr>
          <p:nvPr/>
        </p:nvCxnSpPr>
        <p:spPr>
          <a:xfrm>
            <a:off x="8993662" y="5192273"/>
            <a:ext cx="0" cy="213675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81E364E5-32FD-0336-8213-ED34672D6028}"/>
              </a:ext>
            </a:extLst>
          </p:cNvPr>
          <p:cNvCxnSpPr>
            <a:cxnSpLocks/>
          </p:cNvCxnSpPr>
          <p:nvPr/>
        </p:nvCxnSpPr>
        <p:spPr>
          <a:xfrm>
            <a:off x="9749219" y="5192273"/>
            <a:ext cx="0" cy="213675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E678860A-4ED9-22C9-711F-3DC0E48B7A8E}"/>
              </a:ext>
            </a:extLst>
          </p:cNvPr>
          <p:cNvCxnSpPr>
            <a:cxnSpLocks/>
          </p:cNvCxnSpPr>
          <p:nvPr/>
        </p:nvCxnSpPr>
        <p:spPr>
          <a:xfrm>
            <a:off x="10931915" y="5192273"/>
            <a:ext cx="0" cy="300761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10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Core Research Questions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FA5FF0-5DC2-F872-F6D8-7CF3AE7643C2}"/>
              </a:ext>
            </a:extLst>
          </p:cNvPr>
          <p:cNvSpPr txBox="1"/>
          <p:nvPr/>
        </p:nvSpPr>
        <p:spPr>
          <a:xfrm>
            <a:off x="1222663" y="1336920"/>
            <a:ext cx="97466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explore GP-based approaches to improve learning accuracy and generalization performance?</a:t>
            </a:r>
          </a:p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A75E2A1-FD98-4460-03A9-83DEF4ACE3AF}"/>
              </a:ext>
            </a:extLst>
          </p:cNvPr>
          <p:cNvSpPr txBox="1"/>
          <p:nvPr/>
        </p:nvSpPr>
        <p:spPr>
          <a:xfrm>
            <a:off x="-1" y="2969087"/>
            <a:ext cx="12192001" cy="2986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 Dependencies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Can we use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semantics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to capture output dependencies?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Information-Sharing Requirements: Can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help 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information sharing?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Complex Feature Interactions: Can output-specific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feature selection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be useful?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Imbalanced Output Performance: Can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output correlations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balance the output performance?</a:t>
            </a:r>
          </a:p>
        </p:txBody>
      </p:sp>
    </p:spTree>
    <p:extLst>
      <p:ext uri="{BB962C8B-B14F-4D97-AF65-F5344CB8AC3E}">
        <p14:creationId xmlns:p14="http://schemas.microsoft.com/office/powerpoint/2010/main" val="69441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6BB1-C1B2-CBDA-0CD5-D8B3D6C4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7CBAB-BE84-A9DA-E1DD-74505354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74" y="152046"/>
            <a:ext cx="4233026" cy="656785"/>
          </a:xfrm>
        </p:spPr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5CDC8D-730B-F343-58FC-0FEA4D83A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465" y="1243734"/>
            <a:ext cx="9190507" cy="47968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AutoNum type="arabicPeriod"/>
            </a:pPr>
            <a:r>
              <a:rPr lang="en-US" altLang="zh-CN" sz="2800" dirty="0">
                <a:solidFill>
                  <a:srgbClr val="C00000"/>
                </a:solidFill>
              </a:rPr>
              <a:t>Contribution 1: Semantic-aware Transfer 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2: RL-based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3: Feature Selection-based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4: Evolutionary Feature Construction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Conclusions and Future Work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CBE9C-AAA9-3F01-A705-013DFB1B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057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2"/>
    </mc:Choice>
    <mc:Fallback>
      <p:transition spd="slow" advTm="374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1: Multi-task GP for MSR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707316" y="6356350"/>
            <a:ext cx="336030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19922" y="921251"/>
            <a:ext cx="11637818" cy="8475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b="1" dirty="0"/>
              <a:t>Problem: </a:t>
            </a:r>
            <a:r>
              <a:rPr lang="en-US" altLang="zh-CN" dirty="0"/>
              <a:t>MSR -&gt; Multi-task learning: one task for one output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640294-1BAE-239F-810B-61ADC3307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05"/>
          <a:stretch>
            <a:fillRect/>
          </a:stretch>
        </p:blipFill>
        <p:spPr>
          <a:xfrm>
            <a:off x="4971080" y="1492400"/>
            <a:ext cx="6736236" cy="5213554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F5E2D0A-EEC6-D292-AB63-CF1834FE5325}"/>
              </a:ext>
            </a:extLst>
          </p:cNvPr>
          <p:cNvSpPr txBox="1">
            <a:spLocks/>
          </p:cNvSpPr>
          <p:nvPr/>
        </p:nvSpPr>
        <p:spPr>
          <a:xfrm>
            <a:off x="119922" y="2117038"/>
            <a:ext cx="5096655" cy="2957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b="1" dirty="0"/>
              <a:t>Multi-task Multi-population GP: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dirty="0"/>
              <a:t>One task has one population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dirty="0"/>
              <a:t>Best-</a:t>
            </a:r>
            <a:r>
              <a:rPr lang="en-US" altLang="zh-CN" dirty="0" err="1"/>
              <a:t>ind</a:t>
            </a:r>
            <a:r>
              <a:rPr lang="en-US" altLang="zh-CN" dirty="0"/>
              <a:t> in each task for one output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dirty="0"/>
              <a:t>Transfer knowledge in different pop</a:t>
            </a:r>
          </a:p>
        </p:txBody>
      </p:sp>
    </p:spTree>
    <p:extLst>
      <p:ext uri="{BB962C8B-B14F-4D97-AF65-F5344CB8AC3E}">
        <p14:creationId xmlns:p14="http://schemas.microsoft.com/office/powerpoint/2010/main" val="123721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0CE7-B04E-9E30-E469-25B55CC8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26B1A-6AB2-9D38-4458-CF73E9D5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1: Semantics in GP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C9EFB8-7484-D641-044A-139245AF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4A2F872-BB2D-C051-74F7-9842229B2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0518"/>
            <a:ext cx="11637818" cy="21795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vs Semantics:</a:t>
            </a:r>
          </a:p>
          <a:p>
            <a:pPr lvl="1" algn="just">
              <a:lnSpc>
                <a:spcPct val="100000"/>
              </a:lnSpc>
              <a:defRPr/>
            </a:pPr>
            <a:r>
              <a:rPr kumimoji="0" lang="e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Syntax: Structure of the program (tree)</a:t>
            </a:r>
          </a:p>
          <a:p>
            <a:pPr lvl="1" algn="just">
              <a:lnSpc>
                <a:spcPct val="100000"/>
              </a:lnSpc>
              <a:defRPr/>
            </a:pP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Semantics: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(tree)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4E3456-860F-EE5F-A43A-9C54B5841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777" y="1772795"/>
            <a:ext cx="2540000" cy="3060700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0160053-A75A-67D8-66EE-342DB4A613DD}"/>
              </a:ext>
            </a:extLst>
          </p:cNvPr>
          <p:cNvSpPr txBox="1">
            <a:spLocks/>
          </p:cNvSpPr>
          <p:nvPr/>
        </p:nvSpPr>
        <p:spPr>
          <a:xfrm>
            <a:off x="5944673" y="4678480"/>
            <a:ext cx="5409127" cy="2179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00000"/>
              </a:lnSpc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1: (x + 2)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  <a:p>
            <a:pPr lvl="1">
              <a:lnSpc>
                <a:spcPct val="100000"/>
              </a:lnSpc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2: 3x + 6</a:t>
            </a:r>
          </a:p>
          <a:p>
            <a:pPr lvl="1">
              <a:lnSpc>
                <a:spcPct val="100000"/>
              </a:lnSpc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syntax, same semantics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E58486A-5B35-7C2B-A6E0-3E903D6720F1}"/>
              </a:ext>
            </a:extLst>
          </p:cNvPr>
          <p:cNvSpPr txBox="1">
            <a:spLocks/>
          </p:cNvSpPr>
          <p:nvPr/>
        </p:nvSpPr>
        <p:spPr>
          <a:xfrm>
            <a:off x="0" y="2797900"/>
            <a:ext cx="11637818" cy="35584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For a GP tree </a:t>
            </a:r>
            <a:r>
              <a:rPr lang="el-GR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and dataset X: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Semantics: s(</a:t>
            </a:r>
            <a:r>
              <a:rPr lang="el-GR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= [</a:t>
            </a:r>
            <a:r>
              <a:rPr lang="el-GR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" altLang="zh-CN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), </a:t>
            </a:r>
            <a:r>
              <a:rPr lang="el-GR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" altLang="zh-CN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), ..., </a:t>
            </a:r>
            <a:r>
              <a:rPr lang="el-GR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" altLang="zh-CN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" altLang="zh-CN" baseline="-25000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)]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For dataset: X = {1, 2, 3}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s(</a:t>
            </a:r>
            <a:r>
              <a:rPr lang="el-GR" altLang="zh-CN" i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ϕ</a:t>
            </a:r>
            <a:r>
              <a:rPr lang="el-GR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= [9, 12, 15]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3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r>
              <a:rPr lang="en" altLang="zh-CN" dirty="0"/>
              <a:t>Rethinking Transfer: From Random to Semantic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0" y="854443"/>
            <a:ext cx="10283252" cy="257455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" altLang="zh-CN" b="1" dirty="0"/>
              <a:t>Traditional MTGP Approach:</a:t>
            </a:r>
          </a:p>
          <a:p>
            <a:pPr lvl="1" algn="just"/>
            <a:r>
              <a:rPr lang="en" altLang="zh-CN" dirty="0"/>
              <a:t>T</a:t>
            </a:r>
            <a:r>
              <a:rPr lang="en" altLang="zh-CN" b="0" i="0" dirty="0">
                <a:effectLst/>
                <a:latin typeface="Arial" panose="020B0604020202020204" pitchFamily="34" charset="0"/>
              </a:rPr>
              <a:t>ransfer knowledge by crossover operator between different tasks</a:t>
            </a:r>
          </a:p>
          <a:p>
            <a:pPr lvl="1" algn="just"/>
            <a:r>
              <a:rPr lang="en" altLang="zh-CN" dirty="0"/>
              <a:t>No semantic consideration</a:t>
            </a:r>
            <a:endParaRPr lang="en" altLang="zh-CN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874CB-1AAE-D7D2-7AB4-FC7DC53707F0}"/>
              </a:ext>
            </a:extLst>
          </p:cNvPr>
          <p:cNvSpPr txBox="1">
            <a:spLocks/>
          </p:cNvSpPr>
          <p:nvPr/>
        </p:nvSpPr>
        <p:spPr>
          <a:xfrm>
            <a:off x="33344" y="3605396"/>
            <a:ext cx="11828098" cy="25745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" altLang="zh-CN" b="1" dirty="0"/>
              <a:t>Semantics-based Crossover:</a:t>
            </a:r>
          </a:p>
          <a:p>
            <a:pPr lvl="1" algn="just"/>
            <a:r>
              <a:rPr lang="en" altLang="zh-CN" dirty="0"/>
              <a:t>Measure semantic similarity using cosine similarity: the direction of vectors rather than their magnitudes</a:t>
            </a:r>
          </a:p>
          <a:p>
            <a:pPr lvl="1" algn="just"/>
            <a:r>
              <a:rPr lang="en" altLang="zh-CN" dirty="0"/>
              <a:t>Inter-Task Semantic-based Crossover</a:t>
            </a:r>
          </a:p>
          <a:p>
            <a:pPr lvl="1" algn="just"/>
            <a:r>
              <a:rPr lang="en" altLang="zh-CN" dirty="0"/>
              <a:t>Intra-Task Semantic-based Crossover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CB24D7B-E1C6-E4DD-F89D-FA79481B1479}"/>
              </a:ext>
            </a:extLst>
          </p:cNvPr>
          <p:cNvSpPr txBox="1">
            <a:spLocks/>
          </p:cNvSpPr>
          <p:nvPr/>
        </p:nvSpPr>
        <p:spPr>
          <a:xfrm>
            <a:off x="33344" y="2825907"/>
            <a:ext cx="11320456" cy="8244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" altLang="zh-CN" b="1" dirty="0"/>
              <a:t>Our insight: </a:t>
            </a:r>
            <a:r>
              <a:rPr lang="en" altLang="zh-CN" dirty="0"/>
              <a:t>Semantic similarity impacts generalization in single-output SR</a:t>
            </a:r>
            <a:endParaRPr lang="en" altLang="zh-CN" b="1" dirty="0"/>
          </a:p>
        </p:txBody>
      </p:sp>
    </p:spTree>
    <p:extLst>
      <p:ext uri="{BB962C8B-B14F-4D97-AF65-F5344CB8AC3E}">
        <p14:creationId xmlns:p14="http://schemas.microsoft.com/office/powerpoint/2010/main" val="1648027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66A68-5881-BB96-CD5C-2A26EF25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166C0-60F7-6172-88BC-BE3AC027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1: Semantics-based Crossover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AACFD8-382D-A4DB-E097-EFDB0104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C18ECFC-A830-5C7D-F875-E13C5BC49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870" y="3150610"/>
            <a:ext cx="8009586" cy="35553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052604-152F-97C7-C6D7-4891790B1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72" y="1079100"/>
            <a:ext cx="9057836" cy="190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97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6E10D-9081-FB29-9F19-EEA42677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193D3-8045-EDFA-A386-A202B1E1E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1: </a:t>
            </a:r>
            <a:r>
              <a:rPr lang="en" altLang="zh-CN" dirty="0"/>
              <a:t>Key Findings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F68B83-E54D-3F29-EF4B-AE1058C4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7E5E5B8-32DD-6AEF-D524-92C922E5F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53" y="1937554"/>
            <a:ext cx="3568700" cy="2921000"/>
          </a:xfrm>
          <a:prstGeom prst="rect">
            <a:avLst/>
          </a:prstGeom>
        </p:spPr>
      </p:pic>
      <p:sp>
        <p:nvSpPr>
          <p:cNvPr id="13" name="文本框 8">
            <a:extLst>
              <a:ext uri="{FF2B5EF4-FFF2-40B4-BE49-F238E27FC236}">
                <a16:creationId xmlns:a16="http://schemas.microsoft.com/office/drawing/2014/main" id="{C3976C91-6721-5C03-9B4B-354EB7DE9C4E}"/>
              </a:ext>
            </a:extLst>
          </p:cNvPr>
          <p:cNvSpPr txBox="1"/>
          <p:nvPr/>
        </p:nvSpPr>
        <p:spPr>
          <a:xfrm>
            <a:off x="1153732" y="4858554"/>
            <a:ext cx="229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222222"/>
                </a:solidFill>
                <a:latin typeface="Merriweather" pitchFamily="2" charset="0"/>
              </a:rPr>
              <a:t>Test set in 30 runs</a:t>
            </a:r>
            <a:endParaRPr lang="zh-CN" altLang="en-US" dirty="0">
              <a:solidFill>
                <a:srgbClr val="222222"/>
              </a:solidFill>
              <a:latin typeface="Merriweather" pitchFamily="2" charset="0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8B9957BD-45DD-364F-FB86-F886AFB1D77C}"/>
              </a:ext>
            </a:extLst>
          </p:cNvPr>
          <p:cNvCxnSpPr>
            <a:cxnSpLocks/>
          </p:cNvCxnSpPr>
          <p:nvPr/>
        </p:nvCxnSpPr>
        <p:spPr>
          <a:xfrm flipH="1" flipV="1">
            <a:off x="3425781" y="4484641"/>
            <a:ext cx="643943" cy="1080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4149901D-DF1E-923D-87A4-C5EC934B9003}"/>
              </a:ext>
            </a:extLst>
          </p:cNvPr>
          <p:cNvSpPr txBox="1">
            <a:spLocks/>
          </p:cNvSpPr>
          <p:nvPr/>
        </p:nvSpPr>
        <p:spPr>
          <a:xfrm>
            <a:off x="4069724" y="2655678"/>
            <a:ext cx="7649981" cy="8244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" altLang="zh-CN" dirty="0"/>
              <a:t>Semantic similarity can improve generalization in MSR</a:t>
            </a:r>
            <a:endParaRPr lang="en" altLang="zh-CN" b="1" dirty="0"/>
          </a:p>
        </p:txBody>
      </p:sp>
      <p:sp>
        <p:nvSpPr>
          <p:cNvPr id="20" name="文本框 8">
            <a:extLst>
              <a:ext uri="{FF2B5EF4-FFF2-40B4-BE49-F238E27FC236}">
                <a16:creationId xmlns:a16="http://schemas.microsoft.com/office/drawing/2014/main" id="{8B452095-970E-67BC-3B0B-19AE3D43D812}"/>
              </a:ext>
            </a:extLst>
          </p:cNvPr>
          <p:cNvSpPr txBox="1"/>
          <p:nvPr/>
        </p:nvSpPr>
        <p:spPr>
          <a:xfrm>
            <a:off x="3451539" y="4664950"/>
            <a:ext cx="142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C00000"/>
                </a:solidFill>
                <a:latin typeface="Merriweather" pitchFamily="2" charset="0"/>
              </a:rPr>
              <a:t>MTGPSC</a:t>
            </a:r>
            <a:endParaRPr lang="zh-CN" altLang="en-US" dirty="0">
              <a:solidFill>
                <a:srgbClr val="C00000"/>
              </a:solidFill>
              <a:latin typeface="Merriweather" pitchFamily="2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57BC4FF-A798-F0F5-58E1-0C9D56060B5B}"/>
              </a:ext>
            </a:extLst>
          </p:cNvPr>
          <p:cNvCxnSpPr>
            <a:cxnSpLocks/>
          </p:cNvCxnSpPr>
          <p:nvPr/>
        </p:nvCxnSpPr>
        <p:spPr>
          <a:xfrm flipH="1">
            <a:off x="2975020" y="3889260"/>
            <a:ext cx="772732" cy="62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8">
            <a:extLst>
              <a:ext uri="{FF2B5EF4-FFF2-40B4-BE49-F238E27FC236}">
                <a16:creationId xmlns:a16="http://schemas.microsoft.com/office/drawing/2014/main" id="{72408D1C-F0BA-C958-5A13-6F1C6C951993}"/>
              </a:ext>
            </a:extLst>
          </p:cNvPr>
          <p:cNvSpPr txBox="1"/>
          <p:nvPr/>
        </p:nvSpPr>
        <p:spPr>
          <a:xfrm>
            <a:off x="3738273" y="3797723"/>
            <a:ext cx="142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latin typeface="Merriweather" pitchFamily="2" charset="0"/>
              </a:rPr>
              <a:t>MTGP</a:t>
            </a:r>
            <a:endParaRPr lang="zh-CN" altLang="en-US" dirty="0">
              <a:latin typeface="Merriweath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55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0F4DDF-0D75-244C-BECE-735B3D47C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02" y="1080416"/>
            <a:ext cx="11468275" cy="4564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i="1" dirty="0">
                <a:solidFill>
                  <a:srgbClr val="C00000"/>
                </a:solidFill>
              </a:rPr>
              <a:t>When</a:t>
            </a:r>
            <a:r>
              <a:rPr lang="en-US" altLang="zh-CN" b="1" dirty="0"/>
              <a:t> knowledge should be transferred: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RL controls transfer or self-evolution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C00000"/>
                </a:solidFill>
              </a:rPr>
              <a:t>Which task </a:t>
            </a:r>
            <a:r>
              <a:rPr lang="en-US" altLang="zh-CN" b="1" dirty="0"/>
              <a:t>knowledge should be transferred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RL selects task ID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C00000"/>
                </a:solidFill>
              </a:rPr>
              <a:t>What</a:t>
            </a:r>
            <a:r>
              <a:rPr lang="en-US" altLang="zh-CN" b="1" dirty="0"/>
              <a:t> knowledge should be transferred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Propose semantics-based transfer knowledge strategy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L controls transfer type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1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F61B0D6-D0D3-16F8-0B45-B1A482CF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 for MTGP in MSR</a:t>
            </a:r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D2AB26F-BF99-39C5-181C-74A2C9B753E1}"/>
              </a:ext>
            </a:extLst>
          </p:cNvPr>
          <p:cNvSpPr txBox="1">
            <a:spLocks/>
          </p:cNvSpPr>
          <p:nvPr/>
        </p:nvSpPr>
        <p:spPr>
          <a:xfrm>
            <a:off x="149102" y="5645016"/>
            <a:ext cx="8979108" cy="656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" altLang="zh-CN" b="1" dirty="0"/>
              <a:t>Key insight: </a:t>
            </a:r>
            <a:r>
              <a:rPr lang="en" altLang="zh-CN" dirty="0"/>
              <a:t>Address challenges of MTGP using RL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5A58F7F2-8038-B94E-17F9-7C8025E2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664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F7C4-2AD0-A041-02A3-F9B79AB6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C6080-97FC-7170-D49A-40174FDB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74" y="152046"/>
            <a:ext cx="4233026" cy="656785"/>
          </a:xfrm>
        </p:spPr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7AC1-4C4E-400B-6E6C-A8CB6F807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465" y="1243734"/>
            <a:ext cx="9190507" cy="47968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1: Semantic-aware Transfer </a:t>
            </a:r>
          </a:p>
          <a:p>
            <a:pPr marL="514350" indent="-514350">
              <a:buAutoNum type="arabicPeriod"/>
            </a:pPr>
            <a:r>
              <a:rPr lang="en-US" altLang="zh-CN" sz="2800" dirty="0">
                <a:solidFill>
                  <a:srgbClr val="C00000"/>
                </a:solidFill>
              </a:rPr>
              <a:t>Contribution 2: RL-based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3: Feature Selection-based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4: Evolutionary Feature Construction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Conclusions and Future Work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E1892A-2293-AEDF-C1AE-A2A6F5FE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14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727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2"/>
    </mc:Choice>
    <mc:Fallback>
      <p:transition spd="slow" advTm="374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02C0-05A6-B287-E7CD-7D6CE559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07741-ED6E-C8F3-A04F-20D69267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2: </a:t>
            </a:r>
            <a:r>
              <a:rPr lang="en" altLang="zh-CN" dirty="0"/>
              <a:t>Overall Algorithm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A14B27-E477-529A-4DC9-04E1D0F7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6526C7-E315-1D78-AD03-1139442C0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43" y="1054078"/>
            <a:ext cx="11033012" cy="53022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B984DC-43C4-0ADD-AA27-D64A622691F8}"/>
              </a:ext>
            </a:extLst>
          </p:cNvPr>
          <p:cNvSpPr/>
          <p:nvPr/>
        </p:nvSpPr>
        <p:spPr>
          <a:xfrm>
            <a:off x="6970428" y="1591687"/>
            <a:ext cx="4586990" cy="3987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State: The semantics of parents</a:t>
            </a:r>
            <a:endParaRPr kumimoji="1" lang="zh-CN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520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0.03102 L 4.375E-6 0.2189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21203 L 4.375E-6 0.4620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0.45787 L 4.375E-6 0.707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0F4DDF-0D75-244C-BECE-735B3D47C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94" y="1618920"/>
            <a:ext cx="6639220" cy="3620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Type 1: Individual Transfer</a:t>
            </a:r>
          </a:p>
          <a:p>
            <a:r>
              <a:rPr lang="en-US" altLang="zh-CN" dirty="0"/>
              <a:t>Choose best subtree/tree as new individual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Type 2: Subtree Transfer</a:t>
            </a:r>
          </a:p>
          <a:p>
            <a:r>
              <a:rPr lang="en-US" altLang="zh-CN" dirty="0"/>
              <a:t>Semantic similarity crossover</a:t>
            </a:r>
          </a:p>
          <a:p>
            <a:pPr marL="0" indent="0">
              <a:buNone/>
            </a:pPr>
            <a:r>
              <a:rPr lang="en-US" altLang="zh-CN" b="1" dirty="0"/>
              <a:t>RL chooses Transfer Type 1 or 2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7E3899-1353-777B-98F9-AC506166D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414" y="1011802"/>
            <a:ext cx="3949700" cy="5638800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0D971D11-6A40-10CA-07A2-195D82E2F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2: Semantics-based transfer strategy</a:t>
            </a:r>
            <a:endParaRPr lang="en" altLang="zh-CN" dirty="0"/>
          </a:p>
        </p:txBody>
      </p:sp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D41C5998-E03C-941E-2BE6-D950C2FA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211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B92B-7280-7C95-26C8-A6C63A46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3AFD2F8-6299-9DCD-3E1A-6C67F482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4497"/>
            <a:ext cx="7772400" cy="48642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F26BB0E-3146-2B7A-F7E8-EFD42F47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2: </a:t>
            </a:r>
            <a:r>
              <a:rPr lang="en" altLang="zh-CN" dirty="0"/>
              <a:t>Key Findings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904FDB-094C-AF51-0455-56BD57C7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5ADEFB0C-16E4-349F-721D-5277D68DA20E}"/>
              </a:ext>
            </a:extLst>
          </p:cNvPr>
          <p:cNvSpPr txBox="1">
            <a:spLocks/>
          </p:cNvSpPr>
          <p:nvPr/>
        </p:nvSpPr>
        <p:spPr>
          <a:xfrm>
            <a:off x="8145316" y="1738439"/>
            <a:ext cx="3824991" cy="27949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" altLang="zh-CN" dirty="0"/>
              <a:t>Most best solutions are generated from knowledge transfer</a:t>
            </a:r>
            <a:r>
              <a:rPr lang="en-US" altLang="zh-CN" dirty="0"/>
              <a:t>, </a:t>
            </a:r>
            <a:r>
              <a:rPr lang="en" altLang="zh-CN" dirty="0"/>
              <a:t>RL can help useful knowledge transfer.</a:t>
            </a:r>
            <a:endParaRPr lang="en" altLang="zh-CN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E48336-9FC9-893E-8FC8-D77146772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16" y="5958715"/>
            <a:ext cx="7772400" cy="42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07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BEFB-2647-EB4A-6C02-50BC748C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E5D4D-CE65-DB68-23F1-E3815AA5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74" y="152046"/>
            <a:ext cx="4233026" cy="656785"/>
          </a:xfrm>
        </p:spPr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D5EC-6093-B972-6A16-AD5DD857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465" y="1243734"/>
            <a:ext cx="9190507" cy="47968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1: Semantic-aware Transfer 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2: RL-based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>
                <a:solidFill>
                  <a:srgbClr val="C00000"/>
                </a:solidFill>
              </a:rPr>
              <a:t>Contribution 3: Feature Selection-based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4: Evolutionary Feature Construction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Conclusions and Future Work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0AE14A-1B0F-0255-6732-DD150467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18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5095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2"/>
    </mc:Choice>
    <mc:Fallback>
      <p:transition spd="slow" advTm="374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E7E05-1B3C-6C94-2B82-AE526E77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60EAD3-61B4-E393-24CF-7F10E1B91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02" y="1080416"/>
            <a:ext cx="8185429" cy="4564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FS: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Definition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: a process identify relevant features related to the output variable(s).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Advantages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: irrelevant and redundant features-&gt;reduce the dimensionality of the data-&gt;reduce the risk of overfitting and improve the generalization ability</a:t>
            </a:r>
          </a:p>
          <a:p>
            <a:pPr marL="0" indent="0">
              <a:buNone/>
            </a:pPr>
            <a:r>
              <a:rPr lang="en-US" altLang="zh-CN" b="1" dirty="0"/>
              <a:t>GP for FS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Advantages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: an </a:t>
            </a:r>
            <a:r>
              <a:rPr lang="en-US" altLang="zh-CN" dirty="0">
                <a:ea typeface="等线" panose="02010600030101010101" pitchFamily="2" charset="-122"/>
              </a:rPr>
              <a:t>'embedded' ability</a:t>
            </a:r>
            <a:r>
              <a:rPr lang="en-US" altLang="zh-CN" dirty="0">
                <a:solidFill>
                  <a:srgbClr val="C00000"/>
                </a:solidFill>
                <a:ea typeface="等线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to explore the feature space and select important features</a:t>
            </a:r>
          </a:p>
          <a:p>
            <a:pPr lvl="1" algn="just"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Challenge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GP natural ability is not strong enough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ea typeface="等线" panose="02010600030101010101" pitchFamily="2" charset="-122"/>
              </a:rPr>
              <a:t>in MSR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E553896-BBD6-5C9B-F38D-C5CAF479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3: Feature Selection (FS)</a:t>
            </a:r>
            <a:endParaRPr lang="zh-CN" alt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AEF8E394-DD95-192C-4F04-26CF45BC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3C150F-29B9-374B-86A3-067CFA563F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823"/>
          <a:stretch>
            <a:fillRect/>
          </a:stretch>
        </p:blipFill>
        <p:spPr>
          <a:xfrm>
            <a:off x="8334531" y="1821676"/>
            <a:ext cx="3581400" cy="32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6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27FA-3950-13C8-CC01-33BAEDBDA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CF769B-3412-B3E1-CEB8-6CF1E8E11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02" y="1080415"/>
            <a:ext cx="8185429" cy="54103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How to select output-specific features :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Definition: 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Select important features for each output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Method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: </a:t>
            </a:r>
          </a:p>
          <a:p>
            <a:pPr lvl="2" algn="just"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Construct library to store high-quality </a:t>
            </a:r>
            <a:r>
              <a:rPr lang="en-US" altLang="zh-CN" dirty="0" err="1">
                <a:solidFill>
                  <a:prstClr val="black"/>
                </a:solidFill>
                <a:ea typeface="等线" panose="02010600030101010101" pitchFamily="2" charset="-122"/>
              </a:rPr>
              <a:t>inds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 for each output</a:t>
            </a:r>
          </a:p>
          <a:p>
            <a:pPr lvl="2" algn="just"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Banzhaf Value for each library</a:t>
            </a:r>
          </a:p>
          <a:p>
            <a:pPr lvl="2" algn="just"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Use Knee point to select important features based on Banzhaf values</a:t>
            </a:r>
          </a:p>
          <a:p>
            <a:pPr marL="0" indent="0">
              <a:buNone/>
            </a:pPr>
            <a:r>
              <a:rPr lang="en-US" altLang="zh-CN" b="1" dirty="0"/>
              <a:t>Why Banzhaf value?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</a:rPr>
              <a:t>Definition: </a:t>
            </a:r>
            <a:r>
              <a:rPr lang="en-US" altLang="zh-CN" dirty="0">
                <a:solidFill>
                  <a:prstClr val="black"/>
                </a:solidFill>
              </a:rPr>
              <a:t>a classical solution concept from cooperative game theory that quantifies a player’s influence by measuring its average marginal contribution across all possible coalitions 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Advantages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: </a:t>
            </a:r>
            <a:r>
              <a:rPr lang="zh-CN" altLang="zh-CN" dirty="0"/>
              <a:t>robustness to noise</a:t>
            </a:r>
            <a:r>
              <a:rPr lang="zh-CN" altLang="en-US" dirty="0"/>
              <a:t> </a:t>
            </a:r>
            <a:r>
              <a:rPr lang="en-US" altLang="zh-CN" dirty="0"/>
              <a:t>than </a:t>
            </a:r>
            <a:r>
              <a:rPr lang="en-US" altLang="zh-CN" dirty="0" err="1"/>
              <a:t>Shaply</a:t>
            </a:r>
            <a:r>
              <a:rPr lang="en-US" altLang="zh-CN" dirty="0"/>
              <a:t> value</a:t>
            </a:r>
            <a:r>
              <a:rPr lang="en-US" altLang="zh-CN" i="1" dirty="0"/>
              <a:t>.</a:t>
            </a: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809CCB0-AFD9-A356-E65F-29238F3B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3: Output-Specific FS in MTGP</a:t>
            </a:r>
            <a:endParaRPr lang="zh-CN" alt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0372520D-9C0B-3A4F-6F1B-C651716A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59FE1F-E754-7EA0-E8A6-32FC3E63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531" y="1053732"/>
            <a:ext cx="3708367" cy="53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11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5934-5C89-ECE6-5791-D1D33EF3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911384-8655-DEAC-C11C-282C0180E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03" y="1080415"/>
            <a:ext cx="5946898" cy="5410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How to use output-specific features :</a:t>
            </a:r>
          </a:p>
          <a:p>
            <a:pPr lvl="1" algn="just">
              <a:defRPr/>
            </a:pPr>
            <a:r>
              <a:rPr lang="en-US" altLang="zh-CN" b="1" dirty="0">
                <a:solidFill>
                  <a:prstClr val="black"/>
                </a:solidFill>
                <a:ea typeface="等线" panose="02010600030101010101" pitchFamily="2" charset="-122"/>
              </a:rPr>
              <a:t>Method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: </a:t>
            </a:r>
          </a:p>
          <a:p>
            <a:pPr lvl="2" algn="just"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Extract</a:t>
            </a:r>
            <a:r>
              <a:rPr lang="zh-CN" altLang="en-US" dirty="0">
                <a:solidFill>
                  <a:prstClr val="black"/>
                </a:solidFill>
                <a:ea typeface="等线" panose="02010600030101010101" pitchFamily="2" charset="-122"/>
              </a:rPr>
              <a:t> 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Ind in library to subtrees with only important features</a:t>
            </a:r>
          </a:p>
          <a:p>
            <a:pPr lvl="2" algn="just"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Store high-quality subtrees in library</a:t>
            </a:r>
          </a:p>
          <a:p>
            <a:pPr lvl="2" algn="just"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Transfer Knowledge in library from similar tasks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6F3EE26-C4DE-B74D-7536-A12AFB0B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3: Output-Specific FS in MTGP</a:t>
            </a:r>
            <a:endParaRPr lang="zh-CN" altLang="en-US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4C96231D-D5F7-741A-B947-E12E4328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F1E70D2-0E9D-F41A-D88D-AE258ED0D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066" y="1080415"/>
            <a:ext cx="4708557" cy="53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93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3D995-46B5-B026-6973-C6709392F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692EF-883A-8229-4E0D-726EF17B6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3: </a:t>
            </a:r>
            <a:r>
              <a:rPr lang="en" altLang="zh-CN" dirty="0"/>
              <a:t>Key Findings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36A06C-6C2D-3934-0509-CDE240CE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AEE9A8AA-1284-1F65-2474-D6708317EF53}"/>
              </a:ext>
            </a:extLst>
          </p:cNvPr>
          <p:cNvSpPr txBox="1">
            <a:spLocks/>
          </p:cNvSpPr>
          <p:nvPr/>
        </p:nvSpPr>
        <p:spPr>
          <a:xfrm>
            <a:off x="6638330" y="2254273"/>
            <a:ext cx="5257800" cy="11747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dirty="0"/>
              <a:t>FS can reduce the risk of overfitting</a:t>
            </a:r>
            <a:r>
              <a:rPr lang="en" altLang="zh-CN" dirty="0"/>
              <a:t>.</a:t>
            </a:r>
            <a:endParaRPr lang="en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510722-6055-B28F-B208-EDB23DFBC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80" y="1098550"/>
            <a:ext cx="4140200" cy="4660900"/>
          </a:xfrm>
          <a:prstGeom prst="rect">
            <a:avLst/>
          </a:prstGeom>
        </p:spPr>
      </p:pic>
      <p:sp>
        <p:nvSpPr>
          <p:cNvPr id="5" name="文本框 8">
            <a:extLst>
              <a:ext uri="{FF2B5EF4-FFF2-40B4-BE49-F238E27FC236}">
                <a16:creationId xmlns:a16="http://schemas.microsoft.com/office/drawing/2014/main" id="{57C9F943-E56B-FAC1-155F-ED30DF4F5F32}"/>
              </a:ext>
            </a:extLst>
          </p:cNvPr>
          <p:cNvSpPr txBox="1"/>
          <p:nvPr/>
        </p:nvSpPr>
        <p:spPr>
          <a:xfrm>
            <a:off x="2142899" y="5864503"/>
            <a:ext cx="2297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222222"/>
                </a:solidFill>
                <a:latin typeface="Merriweather" pitchFamily="2" charset="0"/>
              </a:rPr>
              <a:t>Test set in 30 runs</a:t>
            </a:r>
            <a:endParaRPr lang="zh-CN" altLang="en-US" dirty="0">
              <a:solidFill>
                <a:srgbClr val="222222"/>
              </a:solidFill>
              <a:latin typeface="Merriweather" pitchFamily="2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9EC7281-C2BC-22B0-7998-438FA81416C9}"/>
              </a:ext>
            </a:extLst>
          </p:cNvPr>
          <p:cNvCxnSpPr>
            <a:cxnSpLocks/>
          </p:cNvCxnSpPr>
          <p:nvPr/>
        </p:nvCxnSpPr>
        <p:spPr>
          <a:xfrm flipH="1" flipV="1">
            <a:off x="4762675" y="5025554"/>
            <a:ext cx="643943" cy="1080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114AF6B-3A06-AABD-E8C6-9BC439FB77BE}"/>
              </a:ext>
            </a:extLst>
          </p:cNvPr>
          <p:cNvSpPr txBox="1"/>
          <p:nvPr/>
        </p:nvSpPr>
        <p:spPr>
          <a:xfrm>
            <a:off x="4788433" y="5205863"/>
            <a:ext cx="142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C00000"/>
                </a:solidFill>
                <a:latin typeface="Merriweather" pitchFamily="2" charset="0"/>
              </a:rPr>
              <a:t>MTGPFS</a:t>
            </a:r>
            <a:endParaRPr lang="zh-CN" altLang="en-US" dirty="0">
              <a:solidFill>
                <a:srgbClr val="C00000"/>
              </a:solidFill>
              <a:latin typeface="Merriweather" pitchFamily="2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ECEDE3C-8D5D-FEAE-5A37-E0165E2F77E8}"/>
              </a:ext>
            </a:extLst>
          </p:cNvPr>
          <p:cNvCxnSpPr>
            <a:cxnSpLocks/>
          </p:cNvCxnSpPr>
          <p:nvPr/>
        </p:nvCxnSpPr>
        <p:spPr>
          <a:xfrm flipH="1">
            <a:off x="4621010" y="4533204"/>
            <a:ext cx="772732" cy="620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8">
            <a:extLst>
              <a:ext uri="{FF2B5EF4-FFF2-40B4-BE49-F238E27FC236}">
                <a16:creationId xmlns:a16="http://schemas.microsoft.com/office/drawing/2014/main" id="{B16F0F35-F496-B317-76F5-268B4B04DEA3}"/>
              </a:ext>
            </a:extLst>
          </p:cNvPr>
          <p:cNvSpPr txBox="1"/>
          <p:nvPr/>
        </p:nvSpPr>
        <p:spPr>
          <a:xfrm>
            <a:off x="5384263" y="4441667"/>
            <a:ext cx="142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latin typeface="Merriweather" pitchFamily="2" charset="0"/>
              </a:rPr>
              <a:t>MTGPSC</a:t>
            </a:r>
            <a:endParaRPr lang="zh-CN" altLang="en-US" dirty="0">
              <a:latin typeface="Merriweather" pitchFamily="2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9C0623A-F2D4-D56D-8613-2CF846FE5F60}"/>
              </a:ext>
            </a:extLst>
          </p:cNvPr>
          <p:cNvCxnSpPr>
            <a:cxnSpLocks/>
          </p:cNvCxnSpPr>
          <p:nvPr/>
        </p:nvCxnSpPr>
        <p:spPr>
          <a:xfrm flipH="1">
            <a:off x="4630489" y="3230529"/>
            <a:ext cx="772732" cy="62013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8">
            <a:extLst>
              <a:ext uri="{FF2B5EF4-FFF2-40B4-BE49-F238E27FC236}">
                <a16:creationId xmlns:a16="http://schemas.microsoft.com/office/drawing/2014/main" id="{59E2C7F0-7A79-E4D3-2D53-407503D82125}"/>
              </a:ext>
            </a:extLst>
          </p:cNvPr>
          <p:cNvSpPr txBox="1"/>
          <p:nvPr/>
        </p:nvSpPr>
        <p:spPr>
          <a:xfrm>
            <a:off x="5393742" y="3138992"/>
            <a:ext cx="142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chemeClr val="accent2">
                    <a:lumMod val="50000"/>
                  </a:schemeClr>
                </a:solidFill>
                <a:latin typeface="Merriweather" pitchFamily="2" charset="0"/>
              </a:rPr>
              <a:t>MTGP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Merriweath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521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A1EF-53F0-D438-4E2F-459A76D3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7F15C-6042-20E0-FC3A-5EC515FF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74" y="152046"/>
            <a:ext cx="4233026" cy="656785"/>
          </a:xfrm>
        </p:spPr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5E5D3-D8AA-04FF-6E6A-627D95C19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465" y="1243734"/>
            <a:ext cx="9190507" cy="47968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1: Semantic-aware Transfer 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2: RL-based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3: Feature Selection-based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>
                <a:solidFill>
                  <a:srgbClr val="C00000"/>
                </a:solidFill>
              </a:rPr>
              <a:t>Contribution 4: Evolutionary Feature Construction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Conclusions and Future Work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44E42B-4C13-C935-5DBD-D5321914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23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7512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2"/>
    </mc:Choice>
    <mc:Fallback>
      <p:transition spd="slow" advTm="374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16F7-40C6-A42A-73E5-5A889B22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086DB-260F-7F1B-4EB6-3B0794D1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4: GP-based Feature Construction for MSR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42AF61-F89E-C719-0C59-2B313EB4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731E9E0-D06B-1F84-E85D-21353B6D14AE}"/>
              </a:ext>
            </a:extLst>
          </p:cNvPr>
          <p:cNvSpPr txBox="1">
            <a:spLocks/>
          </p:cNvSpPr>
          <p:nvPr/>
        </p:nvSpPr>
        <p:spPr>
          <a:xfrm>
            <a:off x="29769" y="935965"/>
            <a:ext cx="5096655" cy="34170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b="1" dirty="0"/>
              <a:t>GP-based feature construction: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Only one population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Multi-tree GP representation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Multi-tree </a:t>
            </a:r>
            <a:r>
              <a:rPr lang="en-US" altLang="zh-CN" dirty="0" err="1">
                <a:solidFill>
                  <a:prstClr val="black"/>
                </a:solidFill>
                <a:ea typeface="等线" panose="02010600030101010101" pitchFamily="2" charset="-122"/>
              </a:rPr>
              <a:t>GP+One</a:t>
            </a: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 LR-&gt;one output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Fitness function: average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F9E669-ACBE-30A5-3F43-CF0227B18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348" y="1204907"/>
            <a:ext cx="4886995" cy="5151443"/>
          </a:xfrm>
          <a:prstGeom prst="rect">
            <a:avLst/>
          </a:prstGeom>
        </p:spPr>
      </p:pic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11B83C56-C28E-4C79-F6BB-D20EEB18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255683"/>
            <a:ext cx="5383368" cy="21006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3100" b="1" dirty="0"/>
              <a:t>Challenge</a:t>
            </a:r>
            <a:r>
              <a:rPr lang="en-US" altLang="zh-CN" b="1" dirty="0"/>
              <a:t>: </a:t>
            </a:r>
          </a:p>
          <a:p>
            <a:pPr lvl="1" algn="just">
              <a:defRPr/>
            </a:pPr>
            <a:r>
              <a:rPr kumimoji="0" lang="en-US" altLang="zh-CN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Ignore Output Relationships</a:t>
            </a:r>
          </a:p>
          <a:p>
            <a:pPr lvl="1" algn="just">
              <a:defRPr/>
            </a:pPr>
            <a:r>
              <a:rPr kumimoji="0" lang="en-US" altLang="zh-CN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Imbalance Output Performance</a:t>
            </a:r>
            <a:endParaRPr lang="en-US" altLang="zh-CN" sz="2300" b="1" dirty="0"/>
          </a:p>
        </p:txBody>
      </p:sp>
    </p:spTree>
    <p:extLst>
      <p:ext uri="{BB962C8B-B14F-4D97-AF65-F5344CB8AC3E}">
        <p14:creationId xmlns:p14="http://schemas.microsoft.com/office/powerpoint/2010/main" val="2197723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AFA0-2183-1C5A-494F-4D474DED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EEA0F-BAA2-EB29-8333-77CBDF95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/>
          </a:bodyPr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4: </a:t>
            </a:r>
            <a:r>
              <a:rPr lang="en" altLang="zh-CN" dirty="0"/>
              <a:t>Overall Algorithm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79F92B-39C1-DFA3-BBF0-DD5C34C2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3F3B98A-E3C8-DCAA-C919-5EDA8216FF19}"/>
              </a:ext>
            </a:extLst>
          </p:cNvPr>
          <p:cNvSpPr txBox="1">
            <a:spLocks/>
          </p:cNvSpPr>
          <p:nvPr/>
        </p:nvSpPr>
        <p:spPr>
          <a:xfrm>
            <a:off x="0" y="1386726"/>
            <a:ext cx="5688451" cy="2309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b="1" dirty="0"/>
              <a:t>Construct output-correlation graph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Pearson to compute output-correlation 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Construct Graph using Pearson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5873395-AA88-0B34-E352-BD363A50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767" y="1207931"/>
            <a:ext cx="5524500" cy="4648200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0497649-25D2-81EB-2422-F405F457459A}"/>
              </a:ext>
            </a:extLst>
          </p:cNvPr>
          <p:cNvSpPr txBox="1">
            <a:spLocks/>
          </p:cNvSpPr>
          <p:nvPr/>
        </p:nvSpPr>
        <p:spPr>
          <a:xfrm>
            <a:off x="-1" y="3908838"/>
            <a:ext cx="5883768" cy="2309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b="1" dirty="0"/>
              <a:t>Final model: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One GP model for all outputs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Multi-tree GP generated constructed features and use them in all outputs</a:t>
            </a: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ea typeface="等线" panose="02010600030101010101" pitchFamily="2" charset="-122"/>
              </a:rPr>
              <a:t>Coefficients is different for outputs</a:t>
            </a:r>
          </a:p>
        </p:txBody>
      </p:sp>
    </p:spTree>
    <p:extLst>
      <p:ext uri="{BB962C8B-B14F-4D97-AF65-F5344CB8AC3E}">
        <p14:creationId xmlns:p14="http://schemas.microsoft.com/office/powerpoint/2010/main" val="1242770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4B82-CA67-180D-0CB2-629ADC849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8B04C-B744-0CE3-6D33-D8A575C23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/>
          </a:bodyPr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4: </a:t>
            </a:r>
            <a:r>
              <a:rPr lang="en" altLang="zh-CN" dirty="0"/>
              <a:t>Refine Prediction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B2713E-6104-DF46-0D91-25576715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8F04451B-A1B5-C447-4E97-12DA5C9408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279050"/>
                <a:ext cx="4803820" cy="34170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:r>
                  <a:rPr lang="en-US" altLang="zh-CN" b="1" dirty="0"/>
                  <a:t>Graph Propagation</a:t>
                </a:r>
                <a:endParaRPr lang="en-US" altLang="zh-CN" dirty="0">
                  <a:solidFill>
                    <a:prstClr val="black"/>
                  </a:solidFill>
                  <a:ea typeface="等线" panose="02010600030101010101" pitchFamily="2" charset="-122"/>
                </a:endParaRPr>
              </a:p>
              <a:p>
                <a:pPr lvl="1" algn="just">
                  <a:lnSpc>
                    <a:spcPct val="130000"/>
                  </a:lnSpc>
                  <a:defRPr/>
                </a:pPr>
                <a:r>
                  <a:rPr lang="en-US" altLang="zh-CN" b="1" dirty="0">
                    <a:solidFill>
                      <a:prstClr val="black"/>
                    </a:solidFill>
                    <a:ea typeface="等线" panose="02010600030101010101" pitchFamily="2" charset="-122"/>
                  </a:rPr>
                  <a:t>Propagation</a:t>
                </a:r>
                <a:r>
                  <a:rPr lang="en-US" altLang="zh-CN" b="0" dirty="0">
                    <a:solidFill>
                      <a:prstClr val="black"/>
                    </a:solidFill>
                    <a:ea typeface="等线" panose="02010600030101010101" pitchFamily="2" charset="-122"/>
                  </a:rPr>
                  <a:t>:</a:t>
                </a:r>
              </a:p>
              <a:p>
                <a:pPr marL="457200" lvl="1" indent="0" algn="just">
                  <a:lnSpc>
                    <a:spcPct val="130000"/>
                  </a:lnSpc>
                  <a:buNone/>
                  <a:defRPr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p>
                        <m:s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sup>
                      </m:sSup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b="0" dirty="0">
                  <a:solidFill>
                    <a:prstClr val="black"/>
                  </a:solidFill>
                  <a:ea typeface="等线" panose="02010600030101010101" pitchFamily="2" charset="-122"/>
                </a:endParaRPr>
              </a:p>
              <a:p>
                <a:pPr marL="457200" lvl="1" indent="0" algn="just">
                  <a:lnSpc>
                    <a:spcPct val="130000"/>
                  </a:lnSpc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prstClr val="black"/>
                    </a:solidFill>
                    <a:ea typeface="等线" panose="02010600030101010101" pitchFamily="2" charset="-122"/>
                  </a:rPr>
                  <a:t>diffusion strength,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prstClr val="black"/>
                    </a:solidFill>
                    <a:ea typeface="等线" panose="02010600030101010101" pitchFamily="2" charset="-122"/>
                  </a:rPr>
                  <a:t>the depth of the propagation</a:t>
                </a:r>
              </a:p>
              <a:p>
                <a:pPr marL="457200" lvl="1" indent="0" algn="just">
                  <a:lnSpc>
                    <a:spcPct val="130000"/>
                  </a:lnSpc>
                  <a:buNone/>
                  <a:defRPr/>
                </a:pPr>
                <a:endParaRPr lang="en-US" altLang="zh-CN" dirty="0">
                  <a:solidFill>
                    <a:prstClr val="black"/>
                  </a:solidFill>
                  <a:ea typeface="等线" panose="02010600030101010101" pitchFamily="2" charset="-122"/>
                </a:endParaRPr>
              </a:p>
              <a:p>
                <a:pPr lvl="1" algn="just">
                  <a:lnSpc>
                    <a:spcPct val="130000"/>
                  </a:lnSpc>
                  <a:defRPr/>
                </a:pPr>
                <a:r>
                  <a:rPr lang="en-US" altLang="zh-CN" b="1" dirty="0">
                    <a:solidFill>
                      <a:prstClr val="black"/>
                    </a:solidFill>
                    <a:ea typeface="等线" panose="02010600030101010101" pitchFamily="2" charset="-122"/>
                  </a:rPr>
                  <a:t>Benefits</a:t>
                </a:r>
                <a:r>
                  <a:rPr lang="en-US" altLang="zh-CN" dirty="0">
                    <a:solidFill>
                      <a:prstClr val="black"/>
                    </a:solidFill>
                    <a:ea typeface="等线" panose="02010600030101010101" pitchFamily="2" charset="-122"/>
                  </a:rPr>
                  <a:t>: improve the consistency of predictions among related outputs.</a:t>
                </a:r>
              </a:p>
              <a:p>
                <a:pPr lvl="1" algn="just">
                  <a:lnSpc>
                    <a:spcPct val="130000"/>
                  </a:lnSpc>
                  <a:defRPr/>
                </a:pPr>
                <a:endParaRPr lang="en-US" altLang="zh-CN" b="0" dirty="0">
                  <a:solidFill>
                    <a:prstClr val="black"/>
                  </a:solidFill>
                  <a:ea typeface="等线" panose="02010600030101010101" pitchFamily="2" charset="-122"/>
                </a:endParaRPr>
              </a:p>
              <a:p>
                <a:pPr marL="457200" lvl="1" indent="0" algn="just">
                  <a:lnSpc>
                    <a:spcPct val="130000"/>
                  </a:lnSpc>
                  <a:buNone/>
                  <a:defRPr/>
                </a:pPr>
                <a:endParaRPr lang="en-US" altLang="zh-CN" dirty="0">
                  <a:solidFill>
                    <a:prstClr val="black"/>
                  </a:solidFill>
                  <a:ea typeface="等线" panose="02010600030101010101" pitchFamily="2" charset="-122"/>
                </a:endParaRPr>
              </a:p>
              <a:p>
                <a:pPr marL="457200" lvl="1" indent="0" algn="just">
                  <a:lnSpc>
                    <a:spcPct val="130000"/>
                  </a:lnSpc>
                  <a:buNone/>
                  <a:defRPr/>
                </a:pPr>
                <a:endParaRPr lang="en-US" altLang="zh-CN" dirty="0">
                  <a:solidFill>
                    <a:prstClr val="black"/>
                  </a:solidFill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9" name="内容占位符 2">
                <a:extLst>
                  <a:ext uri="{FF2B5EF4-FFF2-40B4-BE49-F238E27FC236}">
                    <a16:creationId xmlns:a16="http://schemas.microsoft.com/office/drawing/2014/main" id="{8F04451B-A1B5-C447-4E97-12DA5C940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79050"/>
                <a:ext cx="4803820" cy="3417093"/>
              </a:xfrm>
              <a:prstGeom prst="rect">
                <a:avLst/>
              </a:prstGeom>
              <a:blipFill>
                <a:blip r:embed="rId3"/>
                <a:stretch>
                  <a:fillRect l="-2111" r="-1847" b="-4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C3B99BF-61A8-6CD5-8FCE-F30C4FEEB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927" y="1270491"/>
            <a:ext cx="6924103" cy="429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97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7C68-1BC6-882B-E765-7A5DC620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65BF37B-8F93-50DE-2170-86F1D5B48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4" y="1100039"/>
            <a:ext cx="7718958" cy="28795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332F992-3276-B5A2-B555-9F22B58D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3: </a:t>
            </a:r>
            <a:r>
              <a:rPr lang="en" altLang="zh-CN" dirty="0"/>
              <a:t>Key Findings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97700-483A-D2BF-CB6B-9D0A332E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B972C1FD-3CE5-F00E-4C45-994AB76CE10C}"/>
              </a:ext>
            </a:extLst>
          </p:cNvPr>
          <p:cNvSpPr txBox="1">
            <a:spLocks/>
          </p:cNvSpPr>
          <p:nvPr/>
        </p:nvSpPr>
        <p:spPr>
          <a:xfrm>
            <a:off x="8148935" y="2009575"/>
            <a:ext cx="3666530" cy="3651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construction framework can generate more compact models (reuse symbolic trees) and have lower training time (single pop) than multi-task GP methods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" altLang="zh-CN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747923-5377-8D39-B692-168076C16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4" y="3948114"/>
            <a:ext cx="7772400" cy="287953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00C9DF0-EC0C-7146-BE76-C3A0725EE706}"/>
              </a:ext>
            </a:extLst>
          </p:cNvPr>
          <p:cNvSpPr/>
          <p:nvPr/>
        </p:nvSpPr>
        <p:spPr>
          <a:xfrm>
            <a:off x="33344" y="3026535"/>
            <a:ext cx="7718958" cy="515155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54A957-0B8D-8246-F3AC-66DE78517B4E}"/>
              </a:ext>
            </a:extLst>
          </p:cNvPr>
          <p:cNvSpPr/>
          <p:nvPr/>
        </p:nvSpPr>
        <p:spPr>
          <a:xfrm>
            <a:off x="-89005" y="5906068"/>
            <a:ext cx="7718958" cy="515155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2146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68DE-18F9-91FD-0923-2CB77064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8A9CA5-5BAF-58B0-9AE9-AD5CA6B3A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4" y="1029964"/>
            <a:ext cx="8662940" cy="582803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9DF60D6-4D67-0DFF-B14F-21D80B21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4" y="152046"/>
            <a:ext cx="9746672" cy="656785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3: </a:t>
            </a:r>
            <a:r>
              <a:rPr lang="en" altLang="zh-CN" dirty="0"/>
              <a:t>Key Findings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EDF041-CC8E-F439-8647-B3D238A9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B29693F5-7E8D-A1FE-539C-C780350E4E7E}"/>
              </a:ext>
            </a:extLst>
          </p:cNvPr>
          <p:cNvSpPr txBox="1">
            <a:spLocks/>
          </p:cNvSpPr>
          <p:nvPr/>
        </p:nvSpPr>
        <p:spPr>
          <a:xfrm>
            <a:off x="8905474" y="1189264"/>
            <a:ext cx="3530766" cy="20477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b="1" dirty="0"/>
              <a:t>Pearson Correlation: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+0.92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-0.19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-0.15</a:t>
            </a: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1F1226B-7A98-7B31-31D2-B4E5D3F3DD3F}"/>
              </a:ext>
            </a:extLst>
          </p:cNvPr>
          <p:cNvSpPr txBox="1">
            <a:spLocks/>
          </p:cNvSpPr>
          <p:nvPr/>
        </p:nvSpPr>
        <p:spPr>
          <a:xfrm>
            <a:off x="8661234" y="3458138"/>
            <a:ext cx="3530766" cy="2159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similar coefficients between related outputs and different coefficients between unrelated outputs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 are mainly built by different structures</a:t>
            </a:r>
          </a:p>
        </p:txBody>
      </p:sp>
    </p:spTree>
    <p:extLst>
      <p:ext uri="{BB962C8B-B14F-4D97-AF65-F5344CB8AC3E}">
        <p14:creationId xmlns:p14="http://schemas.microsoft.com/office/powerpoint/2010/main" val="2719068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27DC-26AB-77B4-558C-11FA91AD8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FCFCD-9B35-1352-3439-4DEE90F8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74" y="152046"/>
            <a:ext cx="4233026" cy="656785"/>
          </a:xfrm>
        </p:spPr>
        <p:txBody>
          <a:bodyPr/>
          <a:lstStyle/>
          <a:p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9988A3-12FE-FE63-1DE3-54E092CC3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465" y="1243734"/>
            <a:ext cx="9190507" cy="479684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sz="2800" dirty="0"/>
              <a:t>Introduction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1: Semantic-aware Transfer 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2: RL-based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3: Feature Selection-based Transfer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Contribution 4: Evolutionary Feature Construction</a:t>
            </a:r>
          </a:p>
          <a:p>
            <a:pPr marL="514350" indent="-514350">
              <a:buAutoNum type="arabicPeriod"/>
            </a:pPr>
            <a:r>
              <a:rPr lang="en-US" altLang="zh-CN" sz="2800" dirty="0">
                <a:solidFill>
                  <a:srgbClr val="C00000"/>
                </a:solidFill>
              </a:rPr>
              <a:t>Conclusions and Future Work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F487E6-26F1-B4A8-D26D-13A7AE33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2E218-C089-4D47-ACA9-580EF44F5FE0}" type="slidenum">
              <a:rPr lang="zh-CN" altLang="en-US" smtClean="0"/>
              <a:t>29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5493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2"/>
    </mc:Choice>
    <mc:Fallback>
      <p:transition spd="slow" advTm="3742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8861-74E1-7F26-E77F-5A2EDFE5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083A2-5C8F-4566-4BF0-1C407CAD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/>
          </a:bodyPr>
          <a:lstStyle/>
          <a:p>
            <a:r>
              <a:rPr lang="en-US" altLang="zh-CN" dirty="0"/>
              <a:t>Summary of Contributions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B432F8-0EC1-0CB7-A3DC-6A491AD4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110064C-166E-B263-2D8A-6AA706CCEA78}"/>
              </a:ext>
            </a:extLst>
          </p:cNvPr>
          <p:cNvSpPr txBox="1">
            <a:spLocks/>
          </p:cNvSpPr>
          <p:nvPr/>
        </p:nvSpPr>
        <p:spPr>
          <a:xfrm>
            <a:off x="180303" y="3429000"/>
            <a:ext cx="4893973" cy="1722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b="1" dirty="0"/>
              <a:t>Publications:</a:t>
            </a:r>
            <a:endParaRPr lang="en-US" altLang="zh-CN" sz="200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2025 TEVC (RL)</a:t>
            </a:r>
          </a:p>
          <a:p>
            <a:pPr lvl="1" algn="just">
              <a:defRPr/>
            </a:pPr>
            <a:r>
              <a:rPr lang="en-US" altLang="zh-CN" sz="2000" b="0" dirty="0">
                <a:solidFill>
                  <a:prstClr val="black"/>
                </a:solidFill>
                <a:ea typeface="等线" panose="02010600030101010101" pitchFamily="2" charset="-122"/>
              </a:rPr>
              <a:t>2025 PR (MTGPSC)</a:t>
            </a:r>
          </a:p>
          <a:p>
            <a:pPr lvl="1" algn="just">
              <a:defRPr/>
            </a:pPr>
            <a:endParaRPr lang="en-US" altLang="zh-CN" b="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marL="457200" lvl="1" indent="0" algn="just">
              <a:lnSpc>
                <a:spcPct val="130000"/>
              </a:lnSpc>
              <a:buNone/>
              <a:defRPr/>
            </a:pP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marL="457200" lvl="1" indent="0" algn="just">
              <a:lnSpc>
                <a:spcPct val="130000"/>
              </a:lnSpc>
              <a:buNone/>
              <a:defRPr/>
            </a:pP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3EE9C69-030A-53E3-A16F-51577994F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844010"/>
              </p:ext>
            </p:extLst>
          </p:nvPr>
        </p:nvGraphicFramePr>
        <p:xfrm>
          <a:off x="477946" y="1280160"/>
          <a:ext cx="10919857" cy="187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0453">
                  <a:extLst>
                    <a:ext uri="{9D8B030D-6E8A-4147-A177-3AD203B41FA5}">
                      <a16:colId xmlns:a16="http://schemas.microsoft.com/office/drawing/2014/main" val="1419435834"/>
                    </a:ext>
                  </a:extLst>
                </a:gridCol>
                <a:gridCol w="4039229">
                  <a:extLst>
                    <a:ext uri="{9D8B030D-6E8A-4147-A177-3AD203B41FA5}">
                      <a16:colId xmlns:a16="http://schemas.microsoft.com/office/drawing/2014/main" val="4246587923"/>
                    </a:ext>
                  </a:extLst>
                </a:gridCol>
                <a:gridCol w="3490175">
                  <a:extLst>
                    <a:ext uri="{9D8B030D-6E8A-4147-A177-3AD203B41FA5}">
                      <a16:colId xmlns:a16="http://schemas.microsoft.com/office/drawing/2014/main" val="202135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Innovation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Semantics in MTGP (MTGPSC)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Semantics-based Crossover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060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Varying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Information-Sharing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(RL)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 RL in MTGP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96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High-Dimensional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Output-specific feature selection (FS)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library + Banzhaf value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47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Imbalanced Output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Refine prediction in GP-based FC (EFC)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Output-correlation graph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891796"/>
                  </a:ext>
                </a:extLst>
              </a:tr>
            </a:tbl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9B7CA95-0CD7-E38B-D3DC-BE4A101304FE}"/>
              </a:ext>
            </a:extLst>
          </p:cNvPr>
          <p:cNvSpPr txBox="1">
            <a:spLocks/>
          </p:cNvSpPr>
          <p:nvPr/>
        </p:nvSpPr>
        <p:spPr>
          <a:xfrm>
            <a:off x="3822877" y="3428999"/>
            <a:ext cx="4893973" cy="1722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b="1" dirty="0"/>
              <a:t>Revise and Resubmit:</a:t>
            </a:r>
            <a:endParaRPr lang="en-US" altLang="zh-CN" sz="200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2026 TEVC (FS)/(EFC)</a:t>
            </a: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marL="457200" lvl="1" indent="0" algn="just">
              <a:lnSpc>
                <a:spcPct val="130000"/>
              </a:lnSpc>
              <a:buNone/>
              <a:defRPr/>
            </a:pP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57773E-B1EA-5548-D72B-EDE1ACEB0CF4}"/>
              </a:ext>
            </a:extLst>
          </p:cNvPr>
          <p:cNvSpPr txBox="1"/>
          <p:nvPr/>
        </p:nvSpPr>
        <p:spPr>
          <a:xfrm>
            <a:off x="733266" y="5235684"/>
            <a:ext cx="107933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Achievements:  Propose GP-based methods through innovations to address MSR challenges.</a:t>
            </a: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0355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C2F82-8D7F-1B62-9FA8-6443A2D6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736B3-40A4-6C5C-07E5-BA44044B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/>
          </a:bodyPr>
          <a:lstStyle/>
          <a:p>
            <a:r>
              <a:rPr lang="en-US" altLang="zh-CN" dirty="0"/>
              <a:t>Future Research Directions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5F3A2A-E826-4109-DE76-C773613A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A21DA09-8ADE-23F6-3276-18DD1C510649}"/>
              </a:ext>
            </a:extLst>
          </p:cNvPr>
          <p:cNvSpPr txBox="1">
            <a:spLocks/>
          </p:cNvSpPr>
          <p:nvPr/>
        </p:nvSpPr>
        <p:spPr>
          <a:xfrm>
            <a:off x="334849" y="1434384"/>
            <a:ext cx="6581105" cy="3371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b="1" dirty="0"/>
              <a:t>Future Research Directions:</a:t>
            </a:r>
            <a:endParaRPr lang="en-US" altLang="zh-CN" sz="200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lvl="1" algn="just">
              <a:lnSpc>
                <a:spcPct val="13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Investigate more GP representations for MSR</a:t>
            </a:r>
          </a:p>
          <a:p>
            <a:pPr lvl="1" algn="just">
              <a:defRPr/>
            </a:pPr>
            <a:r>
              <a:rPr lang="en-US" altLang="zh-CN" sz="2000" b="0" dirty="0">
                <a:solidFill>
                  <a:prstClr val="black"/>
                </a:solidFill>
                <a:ea typeface="等线" panose="02010600030101010101" pitchFamily="2" charset="-122"/>
              </a:rPr>
              <a:t>LLM-driven algorithm design for MSR</a:t>
            </a:r>
          </a:p>
          <a:p>
            <a:pPr lvl="1" algn="just"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Industrial deployment frameworks</a:t>
            </a:r>
          </a:p>
          <a:p>
            <a:pPr lvl="1" algn="just"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Investigate GP for incomplete MSR </a:t>
            </a:r>
          </a:p>
          <a:p>
            <a:pPr lvl="1" algn="just">
              <a:defRPr/>
            </a:pPr>
            <a:endParaRPr lang="en-US" altLang="zh-CN" b="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marL="457200" lvl="1" indent="0" algn="just">
              <a:lnSpc>
                <a:spcPct val="130000"/>
              </a:lnSpc>
              <a:buNone/>
              <a:defRPr/>
            </a:pP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marL="457200" lvl="1" indent="0" algn="just">
              <a:lnSpc>
                <a:spcPct val="130000"/>
              </a:lnSpc>
              <a:buNone/>
              <a:defRPr/>
            </a:pP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D52951-23B4-38B8-992D-7DBD104B8ED9}"/>
              </a:ext>
            </a:extLst>
          </p:cNvPr>
          <p:cNvSpPr txBox="1"/>
          <p:nvPr/>
        </p:nvSpPr>
        <p:spPr>
          <a:xfrm>
            <a:off x="385537" y="5197048"/>
            <a:ext cx="1114105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Goal:  Explore MSR using trustworthy, efficient, interpretable AI.</a:t>
            </a:r>
          </a:p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205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0C86-E9F3-E06A-92E1-7C56C45F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175BA-F137-9869-1134-7DE7A043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/>
          </a:bodyPr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76A5B9-75D1-B21D-D081-4CA4AC03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92206A6-6AEF-EB91-0320-FF4F06CCF75B}"/>
              </a:ext>
            </a:extLst>
          </p:cNvPr>
          <p:cNvSpPr txBox="1">
            <a:spLocks/>
          </p:cNvSpPr>
          <p:nvPr/>
        </p:nvSpPr>
        <p:spPr>
          <a:xfrm>
            <a:off x="500128" y="2567349"/>
            <a:ext cx="11191743" cy="3371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3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Semantics-based crossover that transfer useful knowledge</a:t>
            </a:r>
          </a:p>
          <a:p>
            <a:pPr lvl="1" algn="just">
              <a:defRPr/>
            </a:pPr>
            <a:r>
              <a:rPr lang="en-US" altLang="zh-CN" sz="2000" b="0" dirty="0">
                <a:solidFill>
                  <a:prstClr val="black"/>
                </a:solidFill>
                <a:ea typeface="等线" panose="02010600030101010101" pitchFamily="2" charset="-122"/>
              </a:rPr>
              <a:t>RL-based transfer strategy that </a:t>
            </a:r>
            <a:r>
              <a:rPr lang="en-US" altLang="zh-CN" sz="2000" dirty="0">
                <a:solidFill>
                  <a:prstClr val="black"/>
                </a:solidFill>
              </a:rPr>
              <a:t>enable flexible multi-task control</a:t>
            </a:r>
            <a:endParaRPr lang="en-US" altLang="zh-CN" sz="2000" b="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lvl="1" algn="just"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FS-based transfer strategy that construct high-quality knowledge while reducing overfitting</a:t>
            </a:r>
          </a:p>
          <a:p>
            <a:pPr lvl="1" algn="just">
              <a:defRPr/>
            </a:pPr>
            <a:r>
              <a:rPr lang="en-US" altLang="zh-CN" sz="2000" dirty="0">
                <a:solidFill>
                  <a:prstClr val="black"/>
                </a:solidFill>
                <a:ea typeface="等线" panose="02010600030101010101" pitchFamily="2" charset="-122"/>
              </a:rPr>
              <a:t>Graph-based feature construction that refine prediction to reduce imbalance outputs while generating compact GP models.</a:t>
            </a:r>
          </a:p>
          <a:p>
            <a:pPr lvl="1" algn="just">
              <a:defRPr/>
            </a:pPr>
            <a:endParaRPr lang="en-US" altLang="zh-CN" b="0" dirty="0">
              <a:solidFill>
                <a:prstClr val="black"/>
              </a:solidFill>
              <a:ea typeface="等线" panose="02010600030101010101" pitchFamily="2" charset="-122"/>
            </a:endParaRPr>
          </a:p>
          <a:p>
            <a:pPr marL="457200" lvl="1" indent="0" algn="just">
              <a:lnSpc>
                <a:spcPct val="130000"/>
              </a:lnSpc>
              <a:buNone/>
              <a:defRPr/>
            </a:pPr>
            <a:endParaRPr lang="en-US" altLang="zh-CN" dirty="0">
              <a:solidFill>
                <a:prstClr val="black"/>
              </a:solidFill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1435C1-4676-8E27-35D2-080BF1425266}"/>
              </a:ext>
            </a:extLst>
          </p:cNvPr>
          <p:cNvSpPr txBox="1"/>
          <p:nvPr/>
        </p:nvSpPr>
        <p:spPr>
          <a:xfrm>
            <a:off x="334849" y="1088687"/>
            <a:ext cx="11141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demonstrates that GP-based methods can</a:t>
            </a:r>
          </a:p>
          <a:p>
            <a:pPr algn="ctr"/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learning accuracy and generalization performance through: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2A8A50-CD1D-9ED7-A572-F2A1D4364B4A}"/>
              </a:ext>
            </a:extLst>
          </p:cNvPr>
          <p:cNvSpPr txBox="1"/>
          <p:nvPr/>
        </p:nvSpPr>
        <p:spPr>
          <a:xfrm>
            <a:off x="139519" y="5089699"/>
            <a:ext cx="1114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8C77201-6164-65C6-4CE1-A04006F92105}"/>
              </a:ext>
            </a:extLst>
          </p:cNvPr>
          <p:cNvSpPr txBox="1"/>
          <p:nvPr/>
        </p:nvSpPr>
        <p:spPr>
          <a:xfrm>
            <a:off x="4002111" y="5612919"/>
            <a:ext cx="3287331" cy="46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911060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8EAA3E-0466-FAA9-DE10-F418130A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AF88D-E434-B5F7-E64A-556BBE88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046"/>
            <a:ext cx="10034846" cy="656785"/>
          </a:xfrm>
        </p:spPr>
        <p:txBody>
          <a:bodyPr>
            <a:normAutofit/>
          </a:bodyPr>
          <a:lstStyle/>
          <a:p>
            <a:r>
              <a:rPr lang="en-US" altLang="zh-CN" dirty="0"/>
              <a:t>Contribution</a:t>
            </a:r>
            <a:r>
              <a:rPr lang="zh-CN" altLang="en-US" dirty="0"/>
              <a:t> </a:t>
            </a:r>
            <a:r>
              <a:rPr lang="en-US" altLang="zh-CN" dirty="0"/>
              <a:t>4: </a:t>
            </a:r>
            <a:r>
              <a:rPr lang="en" altLang="zh-CN" dirty="0"/>
              <a:t>Parent</a:t>
            </a:r>
            <a:r>
              <a:rPr lang="zh-CN" altLang="en-US" dirty="0"/>
              <a:t> </a:t>
            </a:r>
            <a:r>
              <a:rPr lang="en-US" altLang="zh-CN" dirty="0"/>
              <a:t>Selection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D2F87-B9F9-529E-095F-9039F020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6592" y="6356350"/>
            <a:ext cx="516754" cy="365125"/>
          </a:xfrm>
        </p:spPr>
        <p:txBody>
          <a:bodyPr/>
          <a:lstStyle/>
          <a:p>
            <a:fld id="{EF62E218-C089-4D47-ACA9-580EF44F5FE0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74C7EF-5BF6-8834-E9A9-EEB524B32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48"/>
          <a:stretch>
            <a:fillRect/>
          </a:stretch>
        </p:blipFill>
        <p:spPr>
          <a:xfrm>
            <a:off x="2629868" y="953036"/>
            <a:ext cx="4775110" cy="57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82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123682</TotalTime>
  <Words>1525</Words>
  <Application>Microsoft Macintosh PowerPoint</Application>
  <PresentationFormat>宽屏</PresentationFormat>
  <Paragraphs>325</Paragraphs>
  <Slides>33</Slides>
  <Notes>33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等线</vt:lpstr>
      <vt:lpstr>等线 Light</vt:lpstr>
      <vt:lpstr>Arial</vt:lpstr>
      <vt:lpstr>Cambria Math</vt:lpstr>
      <vt:lpstr>Helvetica</vt:lpstr>
      <vt:lpstr>Merriweather</vt:lpstr>
      <vt:lpstr>Times New Roman</vt:lpstr>
      <vt:lpstr>Office 主题​​</vt:lpstr>
      <vt:lpstr>PowerPoint 演示文稿</vt:lpstr>
      <vt:lpstr>Content</vt:lpstr>
      <vt:lpstr>Introduction: Symbolic Regression</vt:lpstr>
      <vt:lpstr>Introduction: Multi-output Symbolic Regression (MSR)</vt:lpstr>
      <vt:lpstr>Introduction: MSR Challenge</vt:lpstr>
      <vt:lpstr>Core Research Questions </vt:lpstr>
      <vt:lpstr>Content</vt:lpstr>
      <vt:lpstr>Contribution 1: Multi-task GP for MSR</vt:lpstr>
      <vt:lpstr>Contribution 1: Semantics in GP</vt:lpstr>
      <vt:lpstr>Rethinking Transfer: From Random to Semantic</vt:lpstr>
      <vt:lpstr>Contribution 1: Semantics-based Crossover</vt:lpstr>
      <vt:lpstr>Contribution 1: Key Findings</vt:lpstr>
      <vt:lpstr>Challenge for MTGP in MSR</vt:lpstr>
      <vt:lpstr>Content</vt:lpstr>
      <vt:lpstr>Contribution 2: Overall Algorithm</vt:lpstr>
      <vt:lpstr>Contribution 2: Semantics-based transfer strategy</vt:lpstr>
      <vt:lpstr>Contribution 2: Key Findings</vt:lpstr>
      <vt:lpstr>Content</vt:lpstr>
      <vt:lpstr>Contribution 3: Feature Selection (FS)</vt:lpstr>
      <vt:lpstr>Contribution 3: Output-Specific FS in MTGP</vt:lpstr>
      <vt:lpstr>Contribution 3: Output-Specific FS in MTGP</vt:lpstr>
      <vt:lpstr>Contribution 3: Key Findings</vt:lpstr>
      <vt:lpstr>Content</vt:lpstr>
      <vt:lpstr>Contribution 4: GP-based Feature Construction for MSR</vt:lpstr>
      <vt:lpstr>Contribution 4: Overall Algorithm</vt:lpstr>
      <vt:lpstr>Contribution 4: Refine Prediction</vt:lpstr>
      <vt:lpstr>Contribution 3: Key Findings</vt:lpstr>
      <vt:lpstr>Contribution 3: Key Findings</vt:lpstr>
      <vt:lpstr>Content</vt:lpstr>
      <vt:lpstr>Summary of Contributions</vt:lpstr>
      <vt:lpstr>Future Research Directions</vt:lpstr>
      <vt:lpstr>Conclusion</vt:lpstr>
      <vt:lpstr>Contribution 4: Parent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Meng Xu</dc:creator>
  <cp:lastModifiedBy>Chunyu Wang</cp:lastModifiedBy>
  <cp:revision>402</cp:revision>
  <dcterms:created xsi:type="dcterms:W3CDTF">2021-02-02T13:44:14Z</dcterms:created>
  <dcterms:modified xsi:type="dcterms:W3CDTF">2026-09-11T03:27:19Z</dcterms:modified>
</cp:coreProperties>
</file>